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</p:sldIdLst>
  <p:notesMasterIdLst>
    <p:notesMasterId r:id="rId42"/>
  </p:notesMasterIdLst>
  <p:sldSz cx="12191695" cy="6858000"/>
  <p:notesSz cx="6858000" cy="12191695"/>
  <p:embeddedFontLst>
    <p:embeddedFont>
      <p:font typeface="Geist SemiBold"/>
      <p:regular r:id="rId201314"/>
    </p:embeddedFont>
    <p:embeddedFont>
      <p:font typeface="Geist Bold"/>
      <p:regular r:id="rId201315"/>
    </p:embeddedFont>
    <p:embeddedFont>
      <p:font typeface="Geist Black"/>
      <p:regular r:id="rId201316"/>
    </p:embeddedFont>
    <p:embeddedFont>
      <p:font typeface="Geist"/>
      <p:regular r:id="rId2013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notesMaster" Target="notesMasters/notesMaster1.xml"/><Relationship Id="rId43" Type="http://schemas.openxmlformats.org/officeDocument/2006/relationships/presProps" Target="presProps.xml"/><Relationship Id="rId44" Type="http://schemas.openxmlformats.org/officeDocument/2006/relationships/viewProps" Target="viewProps.xml"/><Relationship Id="rId45" Type="http://schemas.openxmlformats.org/officeDocument/2006/relationships/theme" Target="theme/theme1.xml"/><Relationship Id="rId4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4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3-2.png"/><Relationship Id="rId3" Type="http://schemas.openxmlformats.org/officeDocument/2006/relationships/image" Target="../media/image-1002-2.png"/><Relationship Id="rId5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620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620">
              <a:alpha val="95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/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6" name="Image 2" descr="preencoded.png">
            <a:hlinkClick r:id="rId4" tooltip="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620">
              <a:alpha val="95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620"/>
          </a:solidFill>
          <a:ln/>
        </p:spPr>
      </p:sp>
      <p:pic>
        <p:nvPicPr>
          <p:cNvPr id="5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620">
              <a:alpha val="95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0"/>
            <a:ext cx="12191695" cy="7821811"/>
          </a:xfrm>
          <a:prstGeom prst="rect">
            <a:avLst/>
          </a:prstGeom>
          <a:solidFill>
            <a:srgbClr val="101620"/>
          </a:solidFill>
          <a:ln/>
        </p:spPr>
      </p:sp>
      <p:pic>
        <p:nvPicPr>
          <p:cNvPr id="5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>
              <a:alpha val="95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620"/>
          </a:solidFill>
          <a:ln/>
        </p:spPr>
      </p:sp>
      <p:pic>
        <p:nvPicPr>
          <p:cNvPr id="5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png"/><Relationship Id="rId3" Type="http://schemas.openxmlformats.org/officeDocument/2006/relationships/image" Target="../media/image-3-3.svg"/><Relationship Id="rId4" Type="http://schemas.openxmlformats.org/officeDocument/2006/relationships/image" Target="../media/image-3-2.png"/><Relationship Id="rId5" Type="http://schemas.openxmlformats.org/officeDocument/2006/relationships/image" Target="../media/image-3-3.svg"/><Relationship Id="rId6" Type="http://schemas.openxmlformats.org/officeDocument/2006/relationships/image" Target="../media/image-3-2.png"/><Relationship Id="rId7" Type="http://schemas.openxmlformats.org/officeDocument/2006/relationships/image" Target="../media/image-3-3.svg"/><Relationship Id="rId8" Type="http://schemas.openxmlformats.org/officeDocument/2006/relationships/image" Target="../media/image-3-2.png"/><Relationship Id="rId9" Type="http://schemas.openxmlformats.org/officeDocument/2006/relationships/image" Target="../media/image-3-3.sv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8-2.png"/><Relationship Id="rId3" Type="http://schemas.openxmlformats.org/officeDocument/2006/relationships/image" Target="../media/image-8-2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image" Target="../media/image-9-2.png"/><Relationship Id="rId3" Type="http://schemas.openxmlformats.org/officeDocument/2006/relationships/image" Target="../media/image-9-3.svg"/><Relationship Id="rId4" Type="http://schemas.openxmlformats.org/officeDocument/2006/relationships/image" Target="../media/image-9-4.png"/><Relationship Id="rId5" Type="http://schemas.openxmlformats.org/officeDocument/2006/relationships/image" Target="../media/image-9-5.svg"/><Relationship Id="rId6" Type="http://schemas.openxmlformats.org/officeDocument/2006/relationships/image" Target="../media/image-9-4.png"/><Relationship Id="rId7" Type="http://schemas.openxmlformats.org/officeDocument/2006/relationships/image" Target="../media/image-9-5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eg"/><Relationship Id="rId2" Type="http://schemas.openxmlformats.org/officeDocument/2006/relationships/image" Target="../media/image-13-2.png"/><Relationship Id="rId3" Type="http://schemas.openxmlformats.org/officeDocument/2006/relationships/image" Target="../media/image-13-3.svg"/><Relationship Id="rId4" Type="http://schemas.openxmlformats.org/officeDocument/2006/relationships/image" Target="../media/image-13-2.png"/><Relationship Id="rId5" Type="http://schemas.openxmlformats.org/officeDocument/2006/relationships/image" Target="../media/image-13-3.svg"/><Relationship Id="rId6" Type="http://schemas.openxmlformats.org/officeDocument/2006/relationships/image" Target="../media/image-13-2.png"/><Relationship Id="rId7" Type="http://schemas.openxmlformats.org/officeDocument/2006/relationships/image" Target="../media/image-13-3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svg"/><Relationship Id="rId3" Type="http://schemas.openxmlformats.org/officeDocument/2006/relationships/image" Target="../media/image-14-1.png"/><Relationship Id="rId4" Type="http://schemas.openxmlformats.org/officeDocument/2006/relationships/image" Target="../media/image-14-2.svg"/><Relationship Id="rId5" Type="http://schemas.openxmlformats.org/officeDocument/2006/relationships/image" Target="../media/image-14-1.png"/><Relationship Id="rId6" Type="http://schemas.openxmlformats.org/officeDocument/2006/relationships/image" Target="../media/image-14-2.sv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svg"/><Relationship Id="rId3" Type="http://schemas.openxmlformats.org/officeDocument/2006/relationships/image" Target="../media/image-18-3.png"/><Relationship Id="rId4" Type="http://schemas.openxmlformats.org/officeDocument/2006/relationships/image" Target="../media/image-18-4.svg"/><Relationship Id="rId5" Type="http://schemas.openxmlformats.org/officeDocument/2006/relationships/image" Target="../media/image-18-5.png"/><Relationship Id="rId6" Type="http://schemas.openxmlformats.org/officeDocument/2006/relationships/image" Target="../media/image-18-6.svg"/><Relationship Id="rId7" Type="http://schemas.openxmlformats.org/officeDocument/2006/relationships/image" Target="../media/image-18-7.png"/><Relationship Id="rId8" Type="http://schemas.openxmlformats.org/officeDocument/2006/relationships/image" Target="../media/image-18-8.svg"/><Relationship Id="rId9" Type="http://schemas.openxmlformats.org/officeDocument/2006/relationships/image" Target="../media/image-18-9.png"/><Relationship Id="rId10" Type="http://schemas.openxmlformats.org/officeDocument/2006/relationships/image" Target="../media/image-18-10.svg"/><Relationship Id="rId11" Type="http://schemas.openxmlformats.org/officeDocument/2006/relationships/image" Target="../media/image-18-11.png"/><Relationship Id="rId12" Type="http://schemas.openxmlformats.org/officeDocument/2006/relationships/slideLayout" Target="../slideLayouts/slideLayout4.xml"/><Relationship Id="rId1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svg"/><Relationship Id="rId3" Type="http://schemas.openxmlformats.org/officeDocument/2006/relationships/image" Target="../media/image-19-3.png"/><Relationship Id="rId4" Type="http://schemas.openxmlformats.org/officeDocument/2006/relationships/image" Target="../media/image-19-4.svg"/><Relationship Id="rId5" Type="http://schemas.openxmlformats.org/officeDocument/2006/relationships/image" Target="../media/image-19-5.png"/><Relationship Id="rId6" Type="http://schemas.openxmlformats.org/officeDocument/2006/relationships/image" Target="../media/image-19-6.svg"/><Relationship Id="rId7" Type="http://schemas.openxmlformats.org/officeDocument/2006/relationships/image" Target="../media/image-19-7.png"/><Relationship Id="rId8" Type="http://schemas.openxmlformats.org/officeDocument/2006/relationships/image" Target="../media/image-19-8.svg"/><Relationship Id="rId9" Type="http://schemas.openxmlformats.org/officeDocument/2006/relationships/image" Target="../media/image-19-9.png"/><Relationship Id="rId10" Type="http://schemas.openxmlformats.org/officeDocument/2006/relationships/image" Target="../media/image-19-10.svg"/><Relationship Id="rId11" Type="http://schemas.openxmlformats.org/officeDocument/2006/relationships/slideLayout" Target="../slideLayouts/slideLayout4.xml"/><Relationship Id="rId1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jpeg"/><Relationship Id="rId2" Type="http://schemas.openxmlformats.org/officeDocument/2006/relationships/image" Target="../media/image-17-1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svg"/><Relationship Id="rId3" Type="http://schemas.openxmlformats.org/officeDocument/2006/relationships/image" Target="../media/image-24-3.png"/><Relationship Id="rId4" Type="http://schemas.openxmlformats.org/officeDocument/2006/relationships/image" Target="../media/image-24-4.svg"/><Relationship Id="rId5" Type="http://schemas.openxmlformats.org/officeDocument/2006/relationships/image" Target="../media/image-24-5.png"/><Relationship Id="rId6" Type="http://schemas.openxmlformats.org/officeDocument/2006/relationships/image" Target="../media/image-24-6.svg"/><Relationship Id="rId7" Type="http://schemas.openxmlformats.org/officeDocument/2006/relationships/image" Target="../media/image-24-7.png"/><Relationship Id="rId8" Type="http://schemas.openxmlformats.org/officeDocument/2006/relationships/image" Target="../media/image-24-8.svg"/><Relationship Id="rId9" Type="http://schemas.openxmlformats.org/officeDocument/2006/relationships/image" Target="../media/image-24-9.png"/><Relationship Id="rId10" Type="http://schemas.openxmlformats.org/officeDocument/2006/relationships/image" Target="../media/image-24-10.svg"/><Relationship Id="rId11" Type="http://schemas.openxmlformats.org/officeDocument/2006/relationships/image" Target="../media/image-24-11.png"/><Relationship Id="rId12" Type="http://schemas.openxmlformats.org/officeDocument/2006/relationships/slideLayout" Target="../slideLayouts/slideLayout4.xml"/><Relationship Id="rId1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60505" y="1391345"/>
            <a:ext cx="4483186" cy="448329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91215" y="0"/>
            <a:ext cx="480048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957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30760" y="100000"/>
                </a:lnTo>
                <a:lnTo>
                  <a:pt x="26370" y="95510"/>
                </a:lnTo>
                <a:lnTo>
                  <a:pt x="26370" y="95310"/>
                </a:lnTo>
                <a:lnTo>
                  <a:pt x="25490" y="94530"/>
                </a:lnTo>
                <a:lnTo>
                  <a:pt x="25490" y="94340"/>
                </a:lnTo>
                <a:lnTo>
                  <a:pt x="22660" y="91210"/>
                </a:lnTo>
                <a:lnTo>
                  <a:pt x="18360" y="85550"/>
                </a:lnTo>
                <a:lnTo>
                  <a:pt x="15140" y="80660"/>
                </a:lnTo>
                <a:lnTo>
                  <a:pt x="11910" y="75000"/>
                </a:lnTo>
                <a:lnTo>
                  <a:pt x="9280" y="69530"/>
                </a:lnTo>
                <a:lnTo>
                  <a:pt x="6840" y="63380"/>
                </a:lnTo>
                <a:lnTo>
                  <a:pt x="4790" y="56740"/>
                </a:lnTo>
                <a:lnTo>
                  <a:pt x="3320" y="50200"/>
                </a:lnTo>
                <a:lnTo>
                  <a:pt x="2440" y="44140"/>
                </a:lnTo>
                <a:lnTo>
                  <a:pt x="2050" y="39060"/>
                </a:lnTo>
                <a:lnTo>
                  <a:pt x="2050" y="30860"/>
                </a:lnTo>
                <a:lnTo>
                  <a:pt x="2540" y="25000"/>
                </a:lnTo>
                <a:lnTo>
                  <a:pt x="3320" y="19820"/>
                </a:lnTo>
                <a:lnTo>
                  <a:pt x="4880" y="12890"/>
                </a:lnTo>
                <a:lnTo>
                  <a:pt x="6930" y="6350"/>
                </a:lnTo>
                <a:close/>
              </a:path>
            </a:pathLst>
          </a:custGeom>
        </p:spPr>
      </p:pic>
      <p:sp>
        <p:nvSpPr>
          <p:cNvPr id="3" name="Text 0"/>
          <p:cNvSpPr/>
          <p:nvPr/>
        </p:nvSpPr>
        <p:spPr>
          <a:xfrm>
            <a:off x="661475" y="567134"/>
            <a:ext cx="6296860" cy="508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3050" b="1" spc="-62" kern="0" dirty="0">
                <a:solidFill>
                  <a:srgbClr val="00D4FF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SQL</a:t>
            </a:r>
            <a:pPr algn="ctr" indent="0" marL="0">
              <a:lnSpc>
                <a:spcPct val="108000"/>
              </a:lnSpc>
              <a:buNone/>
            </a:pPr>
            <a:r>
              <a:rPr lang="en-US" sz="3050" b="1" spc="-62" kern="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 APPLICATIONS IN </a:t>
            </a:r>
            <a:pPr algn="ctr" indent="0" marL="0">
              <a:lnSpc>
                <a:spcPct val="108000"/>
              </a:lnSpc>
              <a:buNone/>
            </a:pPr>
            <a:r>
              <a:rPr lang="en-US" sz="3050" b="1" spc="-62" kern="0" dirty="0">
                <a:solidFill>
                  <a:srgbClr val="FF0055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ACTION</a:t>
            </a:r>
            <a:endParaRPr lang="en-US" sz="3050" dirty="0"/>
          </a:p>
        </p:txBody>
      </p:sp>
      <p:sp>
        <p:nvSpPr>
          <p:cNvPr id="4" name="Text 1"/>
          <p:cNvSpPr/>
          <p:nvPr/>
        </p:nvSpPr>
        <p:spPr>
          <a:xfrm>
            <a:off x="661475" y="1127621"/>
            <a:ext cx="6296860" cy="2542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500" b="1" spc="-31" kern="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CAPTAIN'S LOG: DATA INTELLIGENCE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661475" y="1576288"/>
            <a:ext cx="6296860" cy="372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99000"/>
              </a:lnSpc>
              <a:buNone/>
            </a:pPr>
            <a:r>
              <a:rPr lang="en-US" sz="12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SQL helps teams find, organize, and understand data so they can make better decisions faster.</a:t>
            </a:r>
            <a:endParaRPr lang="en-US" sz="12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2094111"/>
            <a:ext cx="6296860" cy="869057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13187" y="2269629"/>
            <a:ext cx="5869634" cy="2542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500" b="1" spc="-31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E-Commerce</a:t>
            </a:r>
            <a:endParaRPr lang="en-US" sz="1500" dirty="0"/>
          </a:p>
        </p:txBody>
      </p:sp>
      <p:sp>
        <p:nvSpPr>
          <p:cNvPr id="8" name="Text 4"/>
          <p:cNvSpPr/>
          <p:nvPr/>
        </p:nvSpPr>
        <p:spPr>
          <a:xfrm>
            <a:off x="913187" y="2601615"/>
            <a:ext cx="5869634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12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See what people buy and which products sell best.</a:t>
            </a:r>
            <a:endParaRPr lang="en-US" sz="12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475" y="3092748"/>
            <a:ext cx="6296860" cy="869057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13187" y="3268266"/>
            <a:ext cx="5869634" cy="2542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500" b="1" spc="-31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Customer Insights</a:t>
            </a:r>
            <a:endParaRPr lang="en-US" sz="1500" dirty="0"/>
          </a:p>
        </p:txBody>
      </p:sp>
      <p:sp>
        <p:nvSpPr>
          <p:cNvPr id="11" name="Text 6"/>
          <p:cNvSpPr/>
          <p:nvPr/>
        </p:nvSpPr>
        <p:spPr>
          <a:xfrm>
            <a:off x="913187" y="3600252"/>
            <a:ext cx="5869634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12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Learn who your customers are and what they need.</a:t>
            </a:r>
            <a:endParaRPr lang="en-US" sz="12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1475" y="4091384"/>
            <a:ext cx="6296860" cy="869057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913187" y="4266902"/>
            <a:ext cx="5869634" cy="2542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500" b="1" spc="-31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Inventory</a:t>
            </a:r>
            <a:endParaRPr lang="en-US" sz="1500" dirty="0"/>
          </a:p>
        </p:txBody>
      </p:sp>
      <p:sp>
        <p:nvSpPr>
          <p:cNvPr id="14" name="Text 8"/>
          <p:cNvSpPr/>
          <p:nvPr/>
        </p:nvSpPr>
        <p:spPr>
          <a:xfrm>
            <a:off x="913187" y="4598888"/>
            <a:ext cx="5869634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12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Keep track of stock so items are available when needed.</a:t>
            </a:r>
            <a:endParaRPr lang="en-US" sz="120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61475" y="5090021"/>
            <a:ext cx="6296860" cy="869057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913187" y="5265539"/>
            <a:ext cx="5869634" cy="2542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500" b="1" spc="-31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Sales Performance</a:t>
            </a:r>
            <a:endParaRPr lang="en-US" sz="1500" dirty="0"/>
          </a:p>
        </p:txBody>
      </p:sp>
      <p:sp>
        <p:nvSpPr>
          <p:cNvPr id="17" name="Text 10"/>
          <p:cNvSpPr/>
          <p:nvPr/>
        </p:nvSpPr>
        <p:spPr>
          <a:xfrm>
            <a:off x="913187" y="5597525"/>
            <a:ext cx="5869634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12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Measure what is working and where to improve.</a:t>
            </a:r>
            <a:endParaRPr lang="en-US" sz="1200" dirty="0"/>
          </a:p>
        </p:txBody>
      </p:sp>
      <p:sp>
        <p:nvSpPr>
          <p:cNvPr id="18" name="Text 11"/>
          <p:cNvSpPr/>
          <p:nvPr/>
        </p:nvSpPr>
        <p:spPr>
          <a:xfrm>
            <a:off x="356682" y="6104830"/>
            <a:ext cx="6906444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99000"/>
              </a:lnSpc>
              <a:buNone/>
            </a:pPr>
            <a:r>
              <a:rPr lang="en-US" sz="1200" b="1" dirty="0">
                <a:solidFill>
                  <a:srgbClr val="00D4FF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ASSEMBLE THE DATA. DECODE THE BUSINESS.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68846"/>
            <a:ext cx="10868745" cy="614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3700" b="1" spc="-74" kern="0" dirty="0">
                <a:solidFill>
                  <a:srgbClr val="00D4FF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REAL-WORLD SQL</a:t>
            </a:r>
            <a:pPr algn="ctr" indent="0" marL="0">
              <a:lnSpc>
                <a:spcPct val="108000"/>
              </a:lnSpc>
              <a:buNone/>
            </a:pPr>
            <a:r>
              <a:rPr lang="en-US" sz="3700" b="1" spc="-74" kern="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 </a:t>
            </a:r>
            <a:pPr algn="ctr" indent="0" marL="0">
              <a:lnSpc>
                <a:spcPct val="108000"/>
              </a:lnSpc>
              <a:buNone/>
            </a:pPr>
            <a:r>
              <a:rPr lang="en-US" sz="3700" b="1" spc="-74" kern="0" dirty="0">
                <a:solidFill>
                  <a:srgbClr val="FF0055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USE CASES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1458714"/>
            <a:ext cx="10868745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850" b="1" spc="-37" kern="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Captain's Log: Data Defense and Strategy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661475" y="2238276"/>
            <a:ext cx="3277709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850" b="1" spc="-37" kern="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E-Commerce Analytics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661475" y="2734370"/>
            <a:ext cx="3277709" cy="7369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Identify top-selling products by region to optimize inventory and targeted marketing campaigns.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61475" y="3683992"/>
            <a:ext cx="3277709" cy="1890117"/>
          </a:xfrm>
          <a:prstGeom prst="roundRect">
            <a:avLst>
              <a:gd name="adj" fmla="val 4200"/>
            </a:avLst>
          </a:prstGeom>
          <a:solidFill>
            <a:srgbClr val="1D232D"/>
          </a:solidFill>
          <a:ln/>
        </p:spPr>
      </p:sp>
      <p:sp>
        <p:nvSpPr>
          <p:cNvPr id="7" name="Text 5"/>
          <p:cNvSpPr/>
          <p:nvPr/>
        </p:nvSpPr>
        <p:spPr>
          <a:xfrm>
            <a:off x="888283" y="3873004"/>
            <a:ext cx="2824092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region, product, SUM(sales)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  sales_data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 BY region, product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 BY SUM(sales) DESC;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4406691" y="2238276"/>
            <a:ext cx="3390914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850" b="1" spc="-37" kern="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Healthcare Insight</a:t>
            </a:r>
            <a:endParaRPr lang="en-US" sz="1850" dirty="0"/>
          </a:p>
        </p:txBody>
      </p:sp>
      <p:sp>
        <p:nvSpPr>
          <p:cNvPr id="9" name="Text 7"/>
          <p:cNvSpPr/>
          <p:nvPr/>
        </p:nvSpPr>
        <p:spPr>
          <a:xfrm>
            <a:off x="4406691" y="2734370"/>
            <a:ext cx="3390914" cy="7369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Analyze patient outcomes and treatment effectiveness to improve care protocols and resource allocation.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4406691" y="3683992"/>
            <a:ext cx="3390914" cy="1890117"/>
          </a:xfrm>
          <a:prstGeom prst="roundRect">
            <a:avLst>
              <a:gd name="adj" fmla="val 4200"/>
            </a:avLst>
          </a:prstGeom>
          <a:solidFill>
            <a:srgbClr val="1D232D"/>
          </a:solidFill>
          <a:ln/>
        </p:spPr>
      </p:sp>
      <p:sp>
        <p:nvSpPr>
          <p:cNvPr id="11" name="Text 9"/>
          <p:cNvSpPr/>
          <p:nvPr/>
        </p:nvSpPr>
        <p:spPr>
          <a:xfrm>
            <a:off x="4633499" y="3873004"/>
            <a:ext cx="2937298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treatment, AVG(outcome_score)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  patient_records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 BY treatment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HAVING COUNT(*) &gt; 100;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8265112" y="2238276"/>
            <a:ext cx="3277709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850" b="1" spc="-37" kern="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Financial Fraud Detection</a:t>
            </a:r>
            <a:endParaRPr lang="en-US" sz="1850" dirty="0"/>
          </a:p>
        </p:txBody>
      </p:sp>
      <p:sp>
        <p:nvSpPr>
          <p:cNvPr id="13" name="Text 11"/>
          <p:cNvSpPr/>
          <p:nvPr/>
        </p:nvSpPr>
        <p:spPr>
          <a:xfrm>
            <a:off x="8265112" y="2734370"/>
            <a:ext cx="3277709" cy="7369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Detect unusual transaction patterns and flag potential fraudulent activities in real-time.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8265112" y="3683992"/>
            <a:ext cx="3277709" cy="2192536"/>
          </a:xfrm>
          <a:prstGeom prst="roundRect">
            <a:avLst>
              <a:gd name="adj" fmla="val 3621"/>
            </a:avLst>
          </a:prstGeom>
          <a:solidFill>
            <a:srgbClr val="1D232D"/>
          </a:solidFill>
          <a:ln/>
        </p:spPr>
      </p:sp>
      <p:sp>
        <p:nvSpPr>
          <p:cNvPr id="15" name="Text 13"/>
          <p:cNvSpPr/>
          <p:nvPr/>
        </p:nvSpPr>
        <p:spPr>
          <a:xfrm>
            <a:off x="8491920" y="3873004"/>
            <a:ext cx="2824092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user_id, transaction_value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  transactions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 is_suspicious = TRUE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 BY transaction_timestamp DESC;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50193"/>
            <a:ext cx="10868745" cy="614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3700" b="1" spc="-74" kern="0" dirty="0">
                <a:solidFill>
                  <a:srgbClr val="00D4FF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ADVANCED SQL</a:t>
            </a:r>
            <a:pPr algn="ctr" indent="0" marL="0">
              <a:lnSpc>
                <a:spcPct val="108000"/>
              </a:lnSpc>
              <a:buNone/>
            </a:pPr>
            <a:r>
              <a:rPr lang="en-US" sz="3700" b="1" spc="-74" kern="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 </a:t>
            </a:r>
            <a:pPr algn="ctr" indent="0" marL="0">
              <a:lnSpc>
                <a:spcPct val="108000"/>
              </a:lnSpc>
              <a:buNone/>
            </a:pPr>
            <a:r>
              <a:rPr lang="en-US" sz="3700" b="1" spc="-74" kern="0" dirty="0">
                <a:solidFill>
                  <a:srgbClr val="FF0055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TECHNIQUES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1440061"/>
            <a:ext cx="10868745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850" b="1" spc="-37" kern="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CAPTAIN'S LOG: TACTICAL DATA MANEUVERS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661475" y="2219623"/>
            <a:ext cx="5203794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850" b="1" spc="-37" kern="0" dirty="0">
                <a:solidFill>
                  <a:srgbClr val="00D4FF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WINDOW FUNCTIONS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661475" y="2715716"/>
            <a:ext cx="5203794" cy="10771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spcAft>
                <a:spcPts val="1300"/>
              </a:spcAft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Compare rows without losing the original data.</a:t>
            </a:r>
            <a:endParaRPr lang="en-US" sz="1450" dirty="0"/>
          </a:p>
          <a:p>
            <a:pPr algn="l" indent="0" marL="0">
              <a:lnSpc>
                <a:spcPct val="108000"/>
              </a:lnSpc>
              <a:spcAft>
                <a:spcPts val="1300"/>
              </a:spcAft>
              <a:buNone/>
            </a:pPr>
            <a:r>
              <a:rPr lang="en-US" sz="14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Example:</a:t>
            </a:r>
            <a:pPr algn="l" indent="0" marL="0">
              <a:lnSpc>
                <a:spcPct val="108000"/>
              </a:lnSpc>
              <a:spcAft>
                <a:spcPts val="1300"/>
              </a:spcAft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rank products</a:t>
            </a:r>
            <a:endParaRPr lang="en-US" sz="14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4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Benefit:</a:t>
            </a:r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Find top performers fast.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6332776" y="2219623"/>
            <a:ext cx="5203794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850" b="1" spc="-37" kern="0" dirty="0">
                <a:solidFill>
                  <a:srgbClr val="FF0055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SUBQUERIES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6332776" y="2715716"/>
            <a:ext cx="5203794" cy="10771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spcAft>
                <a:spcPts val="1300"/>
              </a:spcAft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Use one query inside another to filter results.</a:t>
            </a:r>
            <a:endParaRPr lang="en-US" sz="1450" dirty="0"/>
          </a:p>
          <a:p>
            <a:pPr algn="l" indent="0" marL="0">
              <a:lnSpc>
                <a:spcPct val="108000"/>
              </a:lnSpc>
              <a:spcAft>
                <a:spcPts val="1300"/>
              </a:spcAft>
              <a:buNone/>
            </a:pPr>
            <a:r>
              <a:rPr lang="en-US" sz="14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Example:</a:t>
            </a:r>
            <a:pPr algn="l" indent="0" marL="0">
              <a:lnSpc>
                <a:spcPct val="108000"/>
              </a:lnSpc>
              <a:spcAft>
                <a:spcPts val="1300"/>
              </a:spcAft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above-average spenders</a:t>
            </a:r>
            <a:endParaRPr lang="en-US" sz="14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4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Benefit:</a:t>
            </a:r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Narrow lists step by step.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61475" y="4364534"/>
            <a:ext cx="5203794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850" b="1" spc="-37" kern="0" dirty="0">
                <a:solidFill>
                  <a:srgbClr val="00D4FF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CTEs (COMMON TABLE EXPRESSIONS)</a:t>
            </a:r>
            <a:endParaRPr lang="en-US" sz="1850" dirty="0"/>
          </a:p>
        </p:txBody>
      </p:sp>
      <p:sp>
        <p:nvSpPr>
          <p:cNvPr id="9" name="Text 7"/>
          <p:cNvSpPr/>
          <p:nvPr/>
        </p:nvSpPr>
        <p:spPr>
          <a:xfrm>
            <a:off x="661475" y="4860627"/>
            <a:ext cx="5203794" cy="10771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spcAft>
                <a:spcPts val="1300"/>
              </a:spcAft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Break a big query into smaller, easy-to-read steps.</a:t>
            </a:r>
            <a:endParaRPr lang="en-US" sz="1450" dirty="0"/>
          </a:p>
          <a:p>
            <a:pPr algn="l" indent="0" marL="0">
              <a:lnSpc>
                <a:spcPct val="108000"/>
              </a:lnSpc>
              <a:spcAft>
                <a:spcPts val="1300"/>
              </a:spcAft>
              <a:buNone/>
            </a:pPr>
            <a:r>
              <a:rPr lang="en-US" sz="14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Example:</a:t>
            </a:r>
            <a:pPr algn="l" indent="0" marL="0">
              <a:lnSpc>
                <a:spcPct val="108000"/>
              </a:lnSpc>
              <a:spcAft>
                <a:spcPts val="1300"/>
              </a:spcAft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churn risk check</a:t>
            </a:r>
            <a:endParaRPr lang="en-US" sz="14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4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Benefit:</a:t>
            </a:r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Easier to build and fix.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6332776" y="4364534"/>
            <a:ext cx="5203794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850" b="1" spc="-37" kern="0" dirty="0">
                <a:solidFill>
                  <a:srgbClr val="FF0055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JOINS</a:t>
            </a:r>
            <a:endParaRPr lang="en-US" sz="1850" dirty="0"/>
          </a:p>
        </p:txBody>
      </p:sp>
      <p:sp>
        <p:nvSpPr>
          <p:cNvPr id="11" name="Text 9"/>
          <p:cNvSpPr/>
          <p:nvPr/>
        </p:nvSpPr>
        <p:spPr>
          <a:xfrm>
            <a:off x="6332776" y="4860627"/>
            <a:ext cx="5203794" cy="10771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spcAft>
                <a:spcPts val="1300"/>
              </a:spcAft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Combine data from different tables into one view.</a:t>
            </a:r>
            <a:endParaRPr lang="en-US" sz="1450" dirty="0"/>
          </a:p>
          <a:p>
            <a:pPr algn="l" indent="0" marL="0">
              <a:lnSpc>
                <a:spcPct val="108000"/>
              </a:lnSpc>
              <a:spcAft>
                <a:spcPts val="1300"/>
              </a:spcAft>
              <a:buNone/>
            </a:pPr>
            <a:r>
              <a:rPr lang="en-US" sz="14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Example:</a:t>
            </a:r>
            <a:pPr algn="l" indent="0" marL="0">
              <a:lnSpc>
                <a:spcPct val="108000"/>
              </a:lnSpc>
              <a:spcAft>
                <a:spcPts val="1300"/>
              </a:spcAft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sales + customer data</a:t>
            </a:r>
            <a:endParaRPr lang="en-US" sz="14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4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Benefit:</a:t>
            </a:r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See the full picture.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0303"/>
            <a:ext cx="10868745" cy="518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3100" b="1" spc="-63" kern="0" dirty="0">
                <a:solidFill>
                  <a:srgbClr val="00D4FF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SQL BEST PRACTICES</a:t>
            </a:r>
            <a:pPr algn="ctr" indent="0" marL="0">
              <a:lnSpc>
                <a:spcPct val="108000"/>
              </a:lnSpc>
              <a:buNone/>
            </a:pPr>
            <a:r>
              <a:rPr lang="en-US" sz="3100" b="1" spc="-63" kern="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 &amp; </a:t>
            </a:r>
            <a:pPr algn="ctr" indent="0" marL="0">
              <a:lnSpc>
                <a:spcPct val="108000"/>
              </a:lnSpc>
              <a:buNone/>
            </a:pPr>
            <a:r>
              <a:rPr lang="en-US" sz="3100" b="1" spc="-63" kern="0" dirty="0">
                <a:solidFill>
                  <a:srgbClr val="FF0055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PERFORMANCE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661475" y="1092398"/>
            <a:ext cx="10868745" cy="259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550" b="1" spc="-31" kern="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CAPTAIN'S LOG: OPTIMIZING THE DATAFLOW</a:t>
            </a:r>
            <a:endParaRPr lang="en-US" sz="15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553270"/>
            <a:ext cx="797401" cy="95686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93413" y="1712714"/>
            <a:ext cx="9936807" cy="259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550" b="1" spc="-31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Index Optimization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1593413" y="2052439"/>
            <a:ext cx="9936807" cy="1909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Speed up query execution for faster insights.</a:t>
            </a:r>
            <a:endParaRPr lang="en-US" sz="12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475" y="2510135"/>
            <a:ext cx="797401" cy="95686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593413" y="2669580"/>
            <a:ext cx="9936807" cy="259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550" b="1" spc="-31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Query Optimization</a:t>
            </a:r>
            <a:endParaRPr lang="en-US" sz="1550" dirty="0"/>
          </a:p>
        </p:txBody>
      </p:sp>
      <p:sp>
        <p:nvSpPr>
          <p:cNvPr id="9" name="Text 5"/>
          <p:cNvSpPr/>
          <p:nvPr/>
        </p:nvSpPr>
        <p:spPr>
          <a:xfrm>
            <a:off x="1593413" y="3009305"/>
            <a:ext cx="9936807" cy="1909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Write efficient SQL to minimize resource use.</a:t>
            </a:r>
            <a:endParaRPr lang="en-US" sz="12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3467001"/>
            <a:ext cx="797401" cy="95686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593413" y="3626445"/>
            <a:ext cx="9936807" cy="259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550" b="1" spc="-31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Data Validation</a:t>
            </a:r>
            <a:endParaRPr lang="en-US" sz="1550" dirty="0"/>
          </a:p>
        </p:txBody>
      </p:sp>
      <p:sp>
        <p:nvSpPr>
          <p:cNvPr id="12" name="Text 7"/>
          <p:cNvSpPr/>
          <p:nvPr/>
        </p:nvSpPr>
        <p:spPr>
          <a:xfrm>
            <a:off x="1593413" y="3966170"/>
            <a:ext cx="9936807" cy="1909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Ensure data quality for reliable decisions.</a:t>
            </a:r>
            <a:endParaRPr lang="en-US" sz="12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475" y="4423866"/>
            <a:ext cx="797401" cy="956866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93413" y="4583311"/>
            <a:ext cx="9936807" cy="259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550" b="1" spc="-31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Security</a:t>
            </a:r>
            <a:endParaRPr lang="en-US" sz="1550" dirty="0"/>
          </a:p>
        </p:txBody>
      </p:sp>
      <p:sp>
        <p:nvSpPr>
          <p:cNvPr id="15" name="Text 9"/>
          <p:cNvSpPr/>
          <p:nvPr/>
        </p:nvSpPr>
        <p:spPr>
          <a:xfrm>
            <a:off x="1593413" y="4923036"/>
            <a:ext cx="9936807" cy="1909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Protect sensitive data from unauthorized access.</a:t>
            </a:r>
            <a:endParaRPr lang="en-US" sz="125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475" y="5380732"/>
            <a:ext cx="797401" cy="956866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593413" y="5540177"/>
            <a:ext cx="9936807" cy="259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550" b="1" spc="-31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Documentation</a:t>
            </a:r>
            <a:endParaRPr lang="en-US" sz="1550" dirty="0"/>
          </a:p>
        </p:txBody>
      </p:sp>
      <p:sp>
        <p:nvSpPr>
          <p:cNvPr id="18" name="Text 11"/>
          <p:cNvSpPr/>
          <p:nvPr/>
        </p:nvSpPr>
        <p:spPr>
          <a:xfrm>
            <a:off x="1593413" y="5879902"/>
            <a:ext cx="9936807" cy="1909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Maintain clear records for maintainability and collaboration.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91215" y="0"/>
            <a:ext cx="480048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957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30760" y="100000"/>
                </a:lnTo>
                <a:lnTo>
                  <a:pt x="26370" y="95510"/>
                </a:lnTo>
                <a:lnTo>
                  <a:pt x="26370" y="95310"/>
                </a:lnTo>
                <a:lnTo>
                  <a:pt x="25490" y="94530"/>
                </a:lnTo>
                <a:lnTo>
                  <a:pt x="25490" y="94340"/>
                </a:lnTo>
                <a:lnTo>
                  <a:pt x="22660" y="91210"/>
                </a:lnTo>
                <a:lnTo>
                  <a:pt x="18360" y="85550"/>
                </a:lnTo>
                <a:lnTo>
                  <a:pt x="15140" y="80660"/>
                </a:lnTo>
                <a:lnTo>
                  <a:pt x="11910" y="75000"/>
                </a:lnTo>
                <a:lnTo>
                  <a:pt x="9280" y="69530"/>
                </a:lnTo>
                <a:lnTo>
                  <a:pt x="6840" y="63380"/>
                </a:lnTo>
                <a:lnTo>
                  <a:pt x="4790" y="56740"/>
                </a:lnTo>
                <a:lnTo>
                  <a:pt x="3320" y="50200"/>
                </a:lnTo>
                <a:lnTo>
                  <a:pt x="2440" y="44140"/>
                </a:lnTo>
                <a:lnTo>
                  <a:pt x="2050" y="39060"/>
                </a:lnTo>
                <a:lnTo>
                  <a:pt x="2050" y="30860"/>
                </a:lnTo>
                <a:lnTo>
                  <a:pt x="2540" y="25000"/>
                </a:lnTo>
                <a:lnTo>
                  <a:pt x="3320" y="19820"/>
                </a:lnTo>
                <a:lnTo>
                  <a:pt x="4880" y="12890"/>
                </a:lnTo>
                <a:lnTo>
                  <a:pt x="6930" y="6350"/>
                </a:lnTo>
                <a:close/>
              </a:path>
            </a:pathLst>
          </a:custGeom>
        </p:spPr>
      </p:pic>
      <p:sp>
        <p:nvSpPr>
          <p:cNvPr id="3" name="Text 0"/>
          <p:cNvSpPr/>
          <p:nvPr/>
        </p:nvSpPr>
        <p:spPr>
          <a:xfrm>
            <a:off x="661475" y="2416076"/>
            <a:ext cx="6296860" cy="614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3700" b="1" spc="-74" kern="0" dirty="0">
                <a:solidFill>
                  <a:srgbClr val="00D4FF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DATA</a:t>
            </a:r>
            <a:pPr algn="ctr" indent="0" marL="0">
              <a:lnSpc>
                <a:spcPct val="108000"/>
              </a:lnSpc>
              <a:buNone/>
            </a:pPr>
            <a:r>
              <a:rPr lang="en-US" sz="3700" b="1" spc="-74" kern="0" dirty="0">
                <a:solidFill>
                  <a:srgbClr val="FF0055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VENGERS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661475" y="3105944"/>
            <a:ext cx="6296860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850" b="1" spc="-37" kern="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SQL SYSTEM / ANALYTICS DASHBOARD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356682" y="3696494"/>
            <a:ext cx="6906444" cy="245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450" i="1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Turning Data Into Decisions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1972122" y="4154785"/>
            <a:ext cx="950789" cy="287139"/>
          </a:xfrm>
          <a:prstGeom prst="roundRect">
            <a:avLst>
              <a:gd name="adj" fmla="val 22118"/>
            </a:avLst>
          </a:prstGeom>
          <a:solidFill>
            <a:srgbClr val="00194D"/>
          </a:solidFill>
          <a:ln/>
        </p:spPr>
      </p:sp>
      <p:sp>
        <p:nvSpPr>
          <p:cNvPr id="7" name="Text 4"/>
          <p:cNvSpPr/>
          <p:nvPr/>
        </p:nvSpPr>
        <p:spPr>
          <a:xfrm>
            <a:off x="2085526" y="4211439"/>
            <a:ext cx="1333566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RAW DATA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3017365" y="4154785"/>
            <a:ext cx="520489" cy="287139"/>
          </a:xfrm>
          <a:prstGeom prst="roundRect">
            <a:avLst>
              <a:gd name="adj" fmla="val 22118"/>
            </a:avLst>
          </a:prstGeom>
          <a:solidFill>
            <a:srgbClr val="00194D"/>
          </a:solidFill>
          <a:ln/>
        </p:spPr>
      </p:sp>
      <p:sp>
        <p:nvSpPr>
          <p:cNvPr id="9" name="Text 6"/>
          <p:cNvSpPr/>
          <p:nvPr/>
        </p:nvSpPr>
        <p:spPr>
          <a:xfrm>
            <a:off x="3130769" y="4211439"/>
            <a:ext cx="903265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SQL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632308" y="4154785"/>
            <a:ext cx="893542" cy="287139"/>
          </a:xfrm>
          <a:prstGeom prst="roundRect">
            <a:avLst>
              <a:gd name="adj" fmla="val 22118"/>
            </a:avLst>
          </a:prstGeom>
          <a:solidFill>
            <a:srgbClr val="00194D"/>
          </a:solidFill>
          <a:ln/>
        </p:spPr>
      </p:sp>
      <p:sp>
        <p:nvSpPr>
          <p:cNvPr id="11" name="Text 8"/>
          <p:cNvSpPr/>
          <p:nvPr/>
        </p:nvSpPr>
        <p:spPr>
          <a:xfrm>
            <a:off x="3745712" y="4211439"/>
            <a:ext cx="1276318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INSIGHTS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4620303" y="4154785"/>
            <a:ext cx="1027384" cy="287139"/>
          </a:xfrm>
          <a:prstGeom prst="roundRect">
            <a:avLst>
              <a:gd name="adj" fmla="val 22118"/>
            </a:avLst>
          </a:prstGeom>
          <a:solidFill>
            <a:srgbClr val="00194D"/>
          </a:solidFill>
          <a:ln/>
        </p:spPr>
      </p:sp>
      <p:sp>
        <p:nvSpPr>
          <p:cNvPr id="13" name="Text 10"/>
          <p:cNvSpPr/>
          <p:nvPr/>
        </p:nvSpPr>
        <p:spPr>
          <a:xfrm>
            <a:off x="4733707" y="4211439"/>
            <a:ext cx="1410161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DECISIONS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91215" y="0"/>
            <a:ext cx="480048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957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30760" y="100000"/>
                </a:lnTo>
                <a:lnTo>
                  <a:pt x="26370" y="95510"/>
                </a:lnTo>
                <a:lnTo>
                  <a:pt x="26370" y="95310"/>
                </a:lnTo>
                <a:lnTo>
                  <a:pt x="25490" y="94530"/>
                </a:lnTo>
                <a:lnTo>
                  <a:pt x="25490" y="94340"/>
                </a:lnTo>
                <a:lnTo>
                  <a:pt x="22660" y="91210"/>
                </a:lnTo>
                <a:lnTo>
                  <a:pt x="18360" y="85550"/>
                </a:lnTo>
                <a:lnTo>
                  <a:pt x="15140" y="80660"/>
                </a:lnTo>
                <a:lnTo>
                  <a:pt x="11910" y="75000"/>
                </a:lnTo>
                <a:lnTo>
                  <a:pt x="9280" y="69530"/>
                </a:lnTo>
                <a:lnTo>
                  <a:pt x="6840" y="63380"/>
                </a:lnTo>
                <a:lnTo>
                  <a:pt x="4790" y="56740"/>
                </a:lnTo>
                <a:lnTo>
                  <a:pt x="3320" y="50200"/>
                </a:lnTo>
                <a:lnTo>
                  <a:pt x="2440" y="44140"/>
                </a:lnTo>
                <a:lnTo>
                  <a:pt x="2050" y="39060"/>
                </a:lnTo>
                <a:lnTo>
                  <a:pt x="2050" y="30860"/>
                </a:lnTo>
                <a:lnTo>
                  <a:pt x="2540" y="25000"/>
                </a:lnTo>
                <a:lnTo>
                  <a:pt x="3320" y="19820"/>
                </a:lnTo>
                <a:lnTo>
                  <a:pt x="4880" y="12890"/>
                </a:lnTo>
                <a:lnTo>
                  <a:pt x="6930" y="6350"/>
                </a:lnTo>
                <a:close/>
              </a:path>
            </a:pathLst>
          </a:custGeom>
        </p:spPr>
      </p:pic>
      <p:sp>
        <p:nvSpPr>
          <p:cNvPr id="3" name="Text 0"/>
          <p:cNvSpPr/>
          <p:nvPr/>
        </p:nvSpPr>
        <p:spPr>
          <a:xfrm>
            <a:off x="661475" y="567531"/>
            <a:ext cx="6296860" cy="499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000" b="1" spc="-60" kern="0" dirty="0">
                <a:solidFill>
                  <a:srgbClr val="FF0055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Why we need?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661475" y="1116608"/>
            <a:ext cx="6296860" cy="2495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500" b="1" spc="-30" kern="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 ANALYTICS DASHBOARD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661475" y="1553270"/>
            <a:ext cx="6296860" cy="675283"/>
          </a:xfrm>
          <a:prstGeom prst="roundRect">
            <a:avLst>
              <a:gd name="adj" fmla="val 9552"/>
            </a:avLst>
          </a:prstGeom>
          <a:solidFill>
            <a:srgbClr val="450707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4962" y="1716286"/>
            <a:ext cx="191884" cy="15349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160334" y="1716286"/>
            <a:ext cx="5644513" cy="361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The world generates approximately 402-474 million terabytes  of data every single day</a:t>
            </a:r>
            <a:endParaRPr lang="en-US" sz="1200" dirty="0"/>
          </a:p>
        </p:txBody>
      </p:sp>
      <p:sp>
        <p:nvSpPr>
          <p:cNvPr id="8" name="Shape 4"/>
          <p:cNvSpPr/>
          <p:nvPr/>
        </p:nvSpPr>
        <p:spPr>
          <a:xfrm>
            <a:off x="661475" y="2368848"/>
            <a:ext cx="6296860" cy="3286919"/>
          </a:xfrm>
          <a:prstGeom prst="roundRect">
            <a:avLst>
              <a:gd name="adj" fmla="val 1962"/>
            </a:avLst>
          </a:prstGeom>
          <a:solidFill>
            <a:srgbClr val="101620"/>
          </a:solidFill>
          <a:ln w="19050">
            <a:solidFill>
              <a:srgbClr val="002A80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680524" y="2387898"/>
            <a:ext cx="6258761" cy="812205"/>
          </a:xfrm>
          <a:custGeom>
            <a:avLst/>
            <a:gdLst/>
            <a:ahLst/>
            <a:cxnLst/>
            <a:rect l="l" t="t" r="r" b="b"/>
            <a:pathLst>
              <a:path w="6258761" h="812205">
                <a:moveTo>
                  <a:pt x="53752" y="0"/>
                </a:moveTo>
                <a:lnTo>
                  <a:pt x="6205008" y="0"/>
                </a:lnTo>
                <a:arcTo hR="53754" wR="53752" stAng="16200000" swAng="5400000"/>
                <a:lnTo>
                  <a:pt x="6258761" y="812205"/>
                </a:lnTo>
                <a:lnTo>
                  <a:pt x="0" y="812205"/>
                </a:lnTo>
                <a:lnTo>
                  <a:pt x="0" y="53754"/>
                </a:lnTo>
                <a:arcTo hR="53754" wR="53752" stAng="10800000" swAng="5400000"/>
                <a:close/>
              </a:path>
            </a:pathLst>
          </a:custGeom>
          <a:solidFill>
            <a:srgbClr val="101620"/>
          </a:solidFill>
          <a:ln/>
        </p:spPr>
      </p:sp>
      <p:sp>
        <p:nvSpPr>
          <p:cNvPr id="10" name="Text 6"/>
          <p:cNvSpPr/>
          <p:nvPr/>
        </p:nvSpPr>
        <p:spPr>
          <a:xfrm>
            <a:off x="834012" y="2541389"/>
            <a:ext cx="5951785" cy="2495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500" b="1" spc="-30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TOO MUCH DATA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834012" y="2865735"/>
            <a:ext cx="5951785" cy="180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Millions of records, zero clarity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680524" y="3200102"/>
            <a:ext cx="6258761" cy="812205"/>
          </a:xfrm>
          <a:prstGeom prst="rect">
            <a:avLst/>
          </a:prstGeom>
          <a:solidFill>
            <a:srgbClr val="101620"/>
          </a:solidFill>
          <a:ln/>
        </p:spPr>
      </p:sp>
      <p:sp>
        <p:nvSpPr>
          <p:cNvPr id="13" name="Shape 9"/>
          <p:cNvSpPr/>
          <p:nvPr/>
        </p:nvSpPr>
        <p:spPr>
          <a:xfrm>
            <a:off x="680524" y="3200102"/>
            <a:ext cx="6258761" cy="19050"/>
          </a:xfrm>
          <a:prstGeom prst="roundRect">
            <a:avLst>
              <a:gd name="adj" fmla="val 49999"/>
            </a:avLst>
          </a:prstGeom>
          <a:solidFill>
            <a:srgbClr val="002A80"/>
          </a:solidFill>
          <a:ln/>
        </p:spPr>
      </p:sp>
      <p:sp>
        <p:nvSpPr>
          <p:cNvPr id="14" name="Text 10"/>
          <p:cNvSpPr/>
          <p:nvPr/>
        </p:nvSpPr>
        <p:spPr>
          <a:xfrm>
            <a:off x="834012" y="3353594"/>
            <a:ext cx="5951785" cy="2495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500" b="1" spc="-30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MULTIPLE TABLES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834012" y="3677940"/>
            <a:ext cx="5951785" cy="180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Scattered across systems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680524" y="4012307"/>
            <a:ext cx="6258761" cy="812205"/>
          </a:xfrm>
          <a:prstGeom prst="rect">
            <a:avLst/>
          </a:prstGeom>
          <a:solidFill>
            <a:srgbClr val="101620"/>
          </a:solidFill>
          <a:ln/>
        </p:spPr>
      </p:sp>
      <p:sp>
        <p:nvSpPr>
          <p:cNvPr id="17" name="Shape 13"/>
          <p:cNvSpPr/>
          <p:nvPr/>
        </p:nvSpPr>
        <p:spPr>
          <a:xfrm>
            <a:off x="680524" y="4012307"/>
            <a:ext cx="6258761" cy="19050"/>
          </a:xfrm>
          <a:prstGeom prst="roundRect">
            <a:avLst>
              <a:gd name="adj" fmla="val 49999"/>
            </a:avLst>
          </a:prstGeom>
          <a:solidFill>
            <a:srgbClr val="002A80"/>
          </a:solidFill>
          <a:ln/>
        </p:spPr>
      </p:sp>
      <p:sp>
        <p:nvSpPr>
          <p:cNvPr id="18" name="Text 14"/>
          <p:cNvSpPr/>
          <p:nvPr/>
        </p:nvSpPr>
        <p:spPr>
          <a:xfrm>
            <a:off x="834012" y="4165798"/>
            <a:ext cx="5951785" cy="2495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500" b="1" spc="-30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MANUAL ANALYSIS IS SLOW</a:t>
            </a:r>
            <a:endParaRPr lang="en-US" sz="1500" dirty="0"/>
          </a:p>
        </p:txBody>
      </p:sp>
      <p:sp>
        <p:nvSpPr>
          <p:cNvPr id="19" name="Text 15"/>
          <p:cNvSpPr/>
          <p:nvPr/>
        </p:nvSpPr>
        <p:spPr>
          <a:xfrm>
            <a:off x="834012" y="4490145"/>
            <a:ext cx="5951785" cy="180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Hours lost, decisions delayed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680524" y="4824512"/>
            <a:ext cx="6258761" cy="812205"/>
          </a:xfrm>
          <a:custGeom>
            <a:avLst/>
            <a:gdLst/>
            <a:ahLst/>
            <a:cxnLst/>
            <a:rect l="l" t="t" r="r" b="b"/>
            <a:pathLst>
              <a:path w="6258761" h="812205">
                <a:moveTo>
                  <a:pt x="0" y="0"/>
                </a:moveTo>
                <a:lnTo>
                  <a:pt x="6258761" y="0"/>
                </a:lnTo>
                <a:lnTo>
                  <a:pt x="6258761" y="758451"/>
                </a:lnTo>
                <a:arcTo hR="53754" wR="53752" stAng="0" swAng="5400000"/>
                <a:lnTo>
                  <a:pt x="53752" y="812205"/>
                </a:lnTo>
                <a:arcTo hR="53754" wR="53752" stAng="5400000" swAng="5400000"/>
                <a:lnTo>
                  <a:pt x="0" y="0"/>
                </a:lnTo>
                <a:close/>
              </a:path>
            </a:pathLst>
          </a:custGeom>
          <a:solidFill>
            <a:srgbClr val="101620"/>
          </a:solidFill>
          <a:ln/>
        </p:spPr>
      </p:sp>
      <p:sp>
        <p:nvSpPr>
          <p:cNvPr id="21" name="Shape 17"/>
          <p:cNvSpPr/>
          <p:nvPr/>
        </p:nvSpPr>
        <p:spPr>
          <a:xfrm>
            <a:off x="680524" y="4824512"/>
            <a:ext cx="6258761" cy="19050"/>
          </a:xfrm>
          <a:prstGeom prst="roundRect">
            <a:avLst>
              <a:gd name="adj" fmla="val 49999"/>
            </a:avLst>
          </a:prstGeom>
          <a:solidFill>
            <a:srgbClr val="002A80"/>
          </a:solidFill>
          <a:ln/>
        </p:spPr>
      </p:sp>
      <p:sp>
        <p:nvSpPr>
          <p:cNvPr id="22" name="Text 18"/>
          <p:cNvSpPr/>
          <p:nvPr/>
        </p:nvSpPr>
        <p:spPr>
          <a:xfrm>
            <a:off x="834012" y="4978003"/>
            <a:ext cx="5951785" cy="2495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500" b="1" spc="-30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ANSWERS ARE HIDDEN</a:t>
            </a:r>
            <a:endParaRPr lang="en-US" sz="1500" dirty="0"/>
          </a:p>
        </p:txBody>
      </p:sp>
      <p:sp>
        <p:nvSpPr>
          <p:cNvPr id="23" name="Text 19"/>
          <p:cNvSpPr/>
          <p:nvPr/>
        </p:nvSpPr>
        <p:spPr>
          <a:xfrm>
            <a:off x="834012" y="5302349"/>
            <a:ext cx="5951785" cy="180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Business intelligence buried deep</a:t>
            </a:r>
            <a:endParaRPr lang="en-US" sz="1200" dirty="0"/>
          </a:p>
        </p:txBody>
      </p:sp>
      <p:sp>
        <p:nvSpPr>
          <p:cNvPr id="24" name="Shape 20"/>
          <p:cNvSpPr/>
          <p:nvPr/>
        </p:nvSpPr>
        <p:spPr>
          <a:xfrm>
            <a:off x="661475" y="5796062"/>
            <a:ext cx="6296860" cy="494407"/>
          </a:xfrm>
          <a:prstGeom prst="roundRect">
            <a:avLst>
              <a:gd name="adj" fmla="val 13046"/>
            </a:avLst>
          </a:prstGeom>
          <a:solidFill>
            <a:srgbClr val="450707"/>
          </a:solidFill>
          <a:ln/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4962" y="5959078"/>
            <a:ext cx="191884" cy="153491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1160334" y="5959078"/>
            <a:ext cx="6254097" cy="180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WE NEED AN INTELLIGENCE SYSTEM.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80048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0"/>
                </a:moveTo>
                <a:lnTo>
                  <a:pt x="90530" y="100"/>
                </a:lnTo>
                <a:lnTo>
                  <a:pt x="93070" y="6350"/>
                </a:lnTo>
                <a:lnTo>
                  <a:pt x="94920" y="12210"/>
                </a:lnTo>
                <a:lnTo>
                  <a:pt x="96680" y="19820"/>
                </a:lnTo>
                <a:lnTo>
                  <a:pt x="97560" y="25880"/>
                </a:lnTo>
                <a:lnTo>
                  <a:pt x="97950" y="30960"/>
                </a:lnTo>
                <a:lnTo>
                  <a:pt x="97950" y="39060"/>
                </a:lnTo>
                <a:lnTo>
                  <a:pt x="97270" y="46480"/>
                </a:lnTo>
                <a:lnTo>
                  <a:pt x="96190" y="52640"/>
                </a:lnTo>
                <a:lnTo>
                  <a:pt x="94730" y="58500"/>
                </a:lnTo>
                <a:lnTo>
                  <a:pt x="92480" y="65230"/>
                </a:lnTo>
                <a:lnTo>
                  <a:pt x="89550" y="72070"/>
                </a:lnTo>
                <a:lnTo>
                  <a:pt x="86820" y="77340"/>
                </a:lnTo>
                <a:lnTo>
                  <a:pt x="83500" y="82810"/>
                </a:lnTo>
                <a:lnTo>
                  <a:pt x="79200" y="88870"/>
                </a:lnTo>
                <a:lnTo>
                  <a:pt x="75880" y="92770"/>
                </a:lnTo>
                <a:lnTo>
                  <a:pt x="75880" y="92970"/>
                </a:lnTo>
                <a:lnTo>
                  <a:pt x="74510" y="94340"/>
                </a:lnTo>
                <a:lnTo>
                  <a:pt x="74510" y="94530"/>
                </a:lnTo>
                <a:lnTo>
                  <a:pt x="69240" y="100000"/>
                </a:lnTo>
                <a:lnTo>
                  <a:pt x="0" y="100000"/>
                </a:lnTo>
                <a:close/>
              </a:path>
            </a:pathLst>
          </a:custGeom>
        </p:spPr>
      </p:pic>
      <p:sp>
        <p:nvSpPr>
          <p:cNvPr id="3" name="Text 0"/>
          <p:cNvSpPr/>
          <p:nvPr/>
        </p:nvSpPr>
        <p:spPr>
          <a:xfrm>
            <a:off x="5233360" y="844352"/>
            <a:ext cx="6296860" cy="527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150" b="1" spc="-64" kern="0" dirty="0">
                <a:solidFill>
                  <a:srgbClr val="00D4FF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What is an Analytics Dashboard?</a:t>
            </a:r>
            <a:endParaRPr lang="en-US" sz="3150" dirty="0"/>
          </a:p>
        </p:txBody>
      </p:sp>
      <p:sp>
        <p:nvSpPr>
          <p:cNvPr id="4" name="Text 1"/>
          <p:cNvSpPr/>
          <p:nvPr/>
        </p:nvSpPr>
        <p:spPr>
          <a:xfrm>
            <a:off x="5233360" y="1581547"/>
            <a:ext cx="6296860" cy="882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54000" indent="-254000">
              <a:lnSpc>
                <a:spcPct val="101000"/>
              </a:lnSpc>
              <a:buSzPct val="100000"/>
              <a:buChar char="•"/>
            </a:pPr>
            <a:r>
              <a:rPr lang="en-US" sz="12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An Analytics Dashboard is a visual screen that converts business data into useful information.</a:t>
            </a:r>
            <a:endParaRPr lang="en-US" sz="1250" dirty="0"/>
          </a:p>
          <a:p>
            <a:pPr algn="l" marL="254000" indent="-254000">
              <a:lnSpc>
                <a:spcPct val="101000"/>
              </a:lnSpc>
              <a:buSzPct val="100000"/>
              <a:buChar char="•"/>
            </a:pPr>
            <a:r>
              <a:rPr lang="en-US" sz="12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Shows </a:t>
            </a:r>
            <a:pPr algn="l" marL="254000" indent="-254000">
              <a:lnSpc>
                <a:spcPct val="101000"/>
              </a:lnSpc>
              <a:buSzPct val="100000"/>
              <a:buChar char="•"/>
            </a:pPr>
            <a:r>
              <a:rPr lang="en-US" sz="12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KPIs, trends, comparisons, and insights</a:t>
            </a:r>
            <a:endParaRPr lang="en-US" sz="1250" dirty="0"/>
          </a:p>
          <a:p>
            <a:pPr algn="l" marL="254000" indent="-254000">
              <a:lnSpc>
                <a:spcPct val="101000"/>
              </a:lnSpc>
              <a:buSzPct val="100000"/>
              <a:buChar char="•"/>
            </a:pPr>
            <a:r>
              <a:rPr lang="en-US" sz="12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SQL works behind the scenes to retrieve and prepare the data</a:t>
            </a:r>
            <a:endParaRPr lang="en-US" sz="125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33360" y="2621161"/>
            <a:ext cx="6296860" cy="906959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491025" y="2802632"/>
            <a:ext cx="5857728" cy="264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550" b="1" spc="-32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Data Layer</a:t>
            </a:r>
            <a:endParaRPr lang="en-US" sz="1550" dirty="0"/>
          </a:p>
        </p:txBody>
      </p:sp>
      <p:sp>
        <p:nvSpPr>
          <p:cNvPr id="7" name="Text 3"/>
          <p:cNvSpPr/>
          <p:nvPr/>
        </p:nvSpPr>
        <p:spPr>
          <a:xfrm>
            <a:off x="5491025" y="3150394"/>
            <a:ext cx="5857728" cy="1962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12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Relational database like PostgreSQL or Snowflake storing structured tables</a:t>
            </a:r>
            <a:endParaRPr lang="en-US" sz="12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33360" y="3667621"/>
            <a:ext cx="6296860" cy="1103213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5491025" y="3849092"/>
            <a:ext cx="5857728" cy="264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550" b="1" spc="-32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Query Layer</a:t>
            </a:r>
            <a:endParaRPr lang="en-US" sz="1550" dirty="0"/>
          </a:p>
        </p:txBody>
      </p:sp>
      <p:sp>
        <p:nvSpPr>
          <p:cNvPr id="10" name="Text 5"/>
          <p:cNvSpPr/>
          <p:nvPr/>
        </p:nvSpPr>
        <p:spPr>
          <a:xfrm>
            <a:off x="5491025" y="4196854"/>
            <a:ext cx="5857728" cy="3925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12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SQL statements such as GROUP BY, JOIN, and CTEs extracting business metrics</a:t>
            </a:r>
            <a:endParaRPr lang="en-US" sz="125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233360" y="4910336"/>
            <a:ext cx="6296860" cy="1103213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5491025" y="5091807"/>
            <a:ext cx="5857728" cy="264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550" b="1" spc="-32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Visualization Layer</a:t>
            </a:r>
            <a:endParaRPr lang="en-US" sz="1550" dirty="0"/>
          </a:p>
        </p:txBody>
      </p:sp>
      <p:sp>
        <p:nvSpPr>
          <p:cNvPr id="13" name="Text 7"/>
          <p:cNvSpPr/>
          <p:nvPr/>
        </p:nvSpPr>
        <p:spPr>
          <a:xfrm>
            <a:off x="5491025" y="5439569"/>
            <a:ext cx="5857728" cy="3925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12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Translates structured SQL result sets into visual components like bar charts, line graphs, and data tables.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7149"/>
            <a:ext cx="10868745" cy="5663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400" b="1" spc="-69" kern="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FROM SQL QUERY → </a:t>
            </a:r>
            <a:pPr algn="l" indent="0" marL="0">
              <a:lnSpc>
                <a:spcPct val="108000"/>
              </a:lnSpc>
              <a:buNone/>
            </a:pPr>
            <a:r>
              <a:rPr lang="en-US" sz="3400" b="1" spc="-69" kern="0" dirty="0">
                <a:solidFill>
                  <a:srgbClr val="00FF88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BUSINESS INSIGHT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61475" y="1157684"/>
            <a:ext cx="10868745" cy="283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700" b="1" spc="-34" kern="0" dirty="0">
                <a:solidFill>
                  <a:srgbClr val="00D4FF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BUSINESS QUESTION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922811" y="1862336"/>
            <a:ext cx="11216994" cy="2175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"Which products generate the most revenue?"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61475" y="1681659"/>
            <a:ext cx="19050" cy="578941"/>
          </a:xfrm>
          <a:prstGeom prst="roundRect">
            <a:avLst>
              <a:gd name="adj" fmla="val 49999"/>
            </a:avLst>
          </a:prstGeom>
          <a:solidFill>
            <a:srgbClr val="6296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35809" y="2441277"/>
            <a:ext cx="6319977" cy="272534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361125" y="4646207"/>
            <a:ext cx="1433765" cy="1863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b="1" spc="-23" kern="0" dirty="0">
                <a:solidFill>
                  <a:srgbClr val="00000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Top Products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3361125" y="4015335"/>
            <a:ext cx="1433765" cy="1863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b="1" spc="-23" kern="0" dirty="0">
                <a:solidFill>
                  <a:srgbClr val="00000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Group by Product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3361125" y="3390835"/>
            <a:ext cx="1433765" cy="1863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b="1" spc="-23" kern="0" dirty="0">
                <a:solidFill>
                  <a:srgbClr val="00000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SQL Query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3361125" y="2759962"/>
            <a:ext cx="1433765" cy="1863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b="1" spc="-23" kern="0" dirty="0">
                <a:solidFill>
                  <a:srgbClr val="00000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Sales Table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61475" y="5347295"/>
            <a:ext cx="3515828" cy="983555"/>
          </a:xfrm>
          <a:prstGeom prst="roundRect">
            <a:avLst>
              <a:gd name="adj" fmla="val 7441"/>
            </a:avLst>
          </a:prstGeom>
          <a:solidFill>
            <a:srgbClr val="101620"/>
          </a:solidFill>
          <a:ln w="19050">
            <a:solidFill>
              <a:srgbClr val="002A8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54748" y="5540573"/>
            <a:ext cx="3129281" cy="283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700" b="1" spc="-34" kern="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🥇</a:t>
            </a:r>
            <a:pPr algn="l" indent="0" marL="0">
              <a:lnSpc>
                <a:spcPct val="108000"/>
              </a:lnSpc>
              <a:buNone/>
            </a:pPr>
            <a:r>
              <a:rPr lang="en-US" sz="1700" b="1" spc="-34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 Product A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854748" y="5919986"/>
            <a:ext cx="3129281" cy="2175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₹8.4M Revenue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4337934" y="5347295"/>
            <a:ext cx="3515828" cy="983555"/>
          </a:xfrm>
          <a:prstGeom prst="roundRect">
            <a:avLst>
              <a:gd name="adj" fmla="val 7441"/>
            </a:avLst>
          </a:prstGeom>
          <a:solidFill>
            <a:srgbClr val="101620"/>
          </a:solidFill>
          <a:ln w="19050">
            <a:solidFill>
              <a:srgbClr val="002A8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531207" y="5540573"/>
            <a:ext cx="3129281" cy="283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700" b="1" spc="-34" kern="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🥈</a:t>
            </a:r>
            <a:pPr algn="l" indent="0" marL="0">
              <a:lnSpc>
                <a:spcPct val="108000"/>
              </a:lnSpc>
              <a:buNone/>
            </a:pPr>
            <a:r>
              <a:rPr lang="en-US" sz="1700" b="1" spc="-34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 Product B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4531207" y="5919986"/>
            <a:ext cx="3129281" cy="2175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₹6.7M Revenue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8014392" y="5347295"/>
            <a:ext cx="3515828" cy="983555"/>
          </a:xfrm>
          <a:prstGeom prst="roundRect">
            <a:avLst>
              <a:gd name="adj" fmla="val 7441"/>
            </a:avLst>
          </a:prstGeom>
          <a:solidFill>
            <a:srgbClr val="101620"/>
          </a:solidFill>
          <a:ln w="19050">
            <a:solidFill>
              <a:srgbClr val="002A8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07666" y="5540573"/>
            <a:ext cx="3129281" cy="283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700" b="1" spc="-34" kern="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🥉</a:t>
            </a:r>
            <a:pPr algn="l" indent="0" marL="0">
              <a:lnSpc>
                <a:spcPct val="108000"/>
              </a:lnSpc>
              <a:buNone/>
            </a:pPr>
            <a:r>
              <a:rPr lang="en-US" sz="1700" b="1" spc="-34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 Product C</a:t>
            </a:r>
            <a:endParaRPr lang="en-US" sz="1700" dirty="0"/>
          </a:p>
        </p:txBody>
      </p:sp>
      <p:sp>
        <p:nvSpPr>
          <p:cNvPr id="19" name="Text 16"/>
          <p:cNvSpPr/>
          <p:nvPr/>
        </p:nvSpPr>
        <p:spPr>
          <a:xfrm>
            <a:off x="8207666" y="5919986"/>
            <a:ext cx="3129281" cy="2175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₹5.2M Revenue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80048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0"/>
                </a:moveTo>
                <a:lnTo>
                  <a:pt x="90530" y="100"/>
                </a:lnTo>
                <a:lnTo>
                  <a:pt x="93070" y="6350"/>
                </a:lnTo>
                <a:lnTo>
                  <a:pt x="94920" y="12210"/>
                </a:lnTo>
                <a:lnTo>
                  <a:pt x="96680" y="19820"/>
                </a:lnTo>
                <a:lnTo>
                  <a:pt x="97560" y="25880"/>
                </a:lnTo>
                <a:lnTo>
                  <a:pt x="97950" y="30960"/>
                </a:lnTo>
                <a:lnTo>
                  <a:pt x="97950" y="39060"/>
                </a:lnTo>
                <a:lnTo>
                  <a:pt x="97270" y="46480"/>
                </a:lnTo>
                <a:lnTo>
                  <a:pt x="96190" y="52640"/>
                </a:lnTo>
                <a:lnTo>
                  <a:pt x="94730" y="58500"/>
                </a:lnTo>
                <a:lnTo>
                  <a:pt x="92480" y="65230"/>
                </a:lnTo>
                <a:lnTo>
                  <a:pt x="89550" y="72070"/>
                </a:lnTo>
                <a:lnTo>
                  <a:pt x="86820" y="77340"/>
                </a:lnTo>
                <a:lnTo>
                  <a:pt x="83500" y="82810"/>
                </a:lnTo>
                <a:lnTo>
                  <a:pt x="79200" y="88870"/>
                </a:lnTo>
                <a:lnTo>
                  <a:pt x="75880" y="92770"/>
                </a:lnTo>
                <a:lnTo>
                  <a:pt x="75880" y="92970"/>
                </a:lnTo>
                <a:lnTo>
                  <a:pt x="74510" y="94340"/>
                </a:lnTo>
                <a:lnTo>
                  <a:pt x="74510" y="94530"/>
                </a:lnTo>
                <a:lnTo>
                  <a:pt x="69240" y="100000"/>
                </a:lnTo>
                <a:lnTo>
                  <a:pt x="0" y="100000"/>
                </a:lnTo>
                <a:close/>
              </a:path>
            </a:pathLst>
          </a:custGeom>
        </p:spPr>
      </p:pic>
      <p:sp>
        <p:nvSpPr>
          <p:cNvPr id="3" name="Text 0"/>
          <p:cNvSpPr/>
          <p:nvPr/>
        </p:nvSpPr>
        <p:spPr>
          <a:xfrm>
            <a:off x="5233360" y="535583"/>
            <a:ext cx="6296860" cy="364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2200" b="1" spc="-44" kern="0" dirty="0">
                <a:solidFill>
                  <a:srgbClr val="00D4FF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SQL</a:t>
            </a:r>
            <a:pPr algn="ctr" indent="0" marL="0">
              <a:lnSpc>
                <a:spcPct val="108000"/>
              </a:lnSpc>
              <a:buNone/>
            </a:pPr>
            <a:r>
              <a:rPr lang="en-US" sz="2200" b="1" spc="-44" kern="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 → </a:t>
            </a:r>
            <a:pPr algn="ctr" indent="0" marL="0">
              <a:lnSpc>
                <a:spcPct val="108000"/>
              </a:lnSpc>
              <a:buNone/>
            </a:pPr>
            <a:r>
              <a:rPr lang="en-US" sz="2200" b="1" spc="-44" kern="0" dirty="0">
                <a:solidFill>
                  <a:srgbClr val="00FF88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INSIGHT</a:t>
            </a:r>
            <a:pPr algn="ctr" indent="0" marL="0">
              <a:lnSpc>
                <a:spcPct val="108000"/>
              </a:lnSpc>
              <a:buNone/>
            </a:pPr>
            <a:r>
              <a:rPr lang="en-US" sz="2200" b="1" spc="-44" kern="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 → </a:t>
            </a:r>
            <a:pPr algn="ctr" indent="0" marL="0">
              <a:lnSpc>
                <a:spcPct val="108000"/>
              </a:lnSpc>
              <a:buNone/>
            </a:pPr>
            <a:r>
              <a:rPr lang="en-US" sz="2200" b="1" spc="-44" kern="0" dirty="0">
                <a:solidFill>
                  <a:srgbClr val="FF0055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ACTION</a:t>
            </a:r>
            <a:endParaRPr lang="en-US" sz="22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3360" y="1000224"/>
            <a:ext cx="6296860" cy="236289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0321134" y="2785845"/>
            <a:ext cx="949741" cy="190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150" b="1" spc="-23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Decision</a:t>
            </a:r>
            <a:endParaRPr lang="en-US" sz="1150" dirty="0"/>
          </a:p>
        </p:txBody>
      </p:sp>
      <p:sp>
        <p:nvSpPr>
          <p:cNvPr id="6" name="Text 2"/>
          <p:cNvSpPr/>
          <p:nvPr/>
        </p:nvSpPr>
        <p:spPr>
          <a:xfrm>
            <a:off x="9124201" y="2785845"/>
            <a:ext cx="949741" cy="190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150" b="1" spc="-23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Dashboard</a:t>
            </a:r>
            <a:endParaRPr lang="en-US" sz="1150" dirty="0"/>
          </a:p>
        </p:txBody>
      </p:sp>
      <p:sp>
        <p:nvSpPr>
          <p:cNvPr id="7" name="Text 3"/>
          <p:cNvSpPr/>
          <p:nvPr/>
        </p:nvSpPr>
        <p:spPr>
          <a:xfrm>
            <a:off x="7933773" y="2785845"/>
            <a:ext cx="949740" cy="190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150" b="1" spc="-23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Analytics</a:t>
            </a:r>
            <a:endParaRPr lang="en-US" sz="1150" dirty="0"/>
          </a:p>
        </p:txBody>
      </p:sp>
      <p:sp>
        <p:nvSpPr>
          <p:cNvPr id="8" name="Text 4"/>
          <p:cNvSpPr/>
          <p:nvPr/>
        </p:nvSpPr>
        <p:spPr>
          <a:xfrm>
            <a:off x="6743345" y="2785845"/>
            <a:ext cx="949740" cy="190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150" b="1" spc="-23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SQL Engine</a:t>
            </a:r>
            <a:endParaRPr lang="en-US" sz="1150" dirty="0"/>
          </a:p>
        </p:txBody>
      </p:sp>
      <p:sp>
        <p:nvSpPr>
          <p:cNvPr id="9" name="Text 5"/>
          <p:cNvSpPr/>
          <p:nvPr/>
        </p:nvSpPr>
        <p:spPr>
          <a:xfrm>
            <a:off x="5526897" y="2785845"/>
            <a:ext cx="949740" cy="190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150" b="1" spc="-23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Raw Data</a:t>
            </a:r>
            <a:endParaRPr lang="en-US" sz="11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3360" y="3438029"/>
            <a:ext cx="561068" cy="67329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861003" y="3550245"/>
            <a:ext cx="5669218" cy="1823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b="1" spc="-22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LOW SALES</a:t>
            </a:r>
            <a:endParaRPr lang="en-US" sz="1100" dirty="0"/>
          </a:p>
        </p:txBody>
      </p:sp>
      <p:sp>
        <p:nvSpPr>
          <p:cNvPr id="12" name="Text 7"/>
          <p:cNvSpPr/>
          <p:nvPr/>
        </p:nvSpPr>
        <p:spPr>
          <a:xfrm>
            <a:off x="5861003" y="3772495"/>
            <a:ext cx="5669218" cy="1161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6000"/>
              </a:lnSpc>
              <a:buNone/>
            </a:pPr>
            <a:r>
              <a:rPr lang="en-US" sz="8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→ Investigate the cause</a:t>
            </a:r>
            <a:endParaRPr lang="en-US" sz="8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3360" y="4111327"/>
            <a:ext cx="561068" cy="67329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5861003" y="4223544"/>
            <a:ext cx="5669218" cy="1823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b="1" spc="-22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TOP PRODUCT</a:t>
            </a:r>
            <a:endParaRPr lang="en-US" sz="1100" dirty="0"/>
          </a:p>
        </p:txBody>
      </p:sp>
      <p:sp>
        <p:nvSpPr>
          <p:cNvPr id="15" name="Text 9"/>
          <p:cNvSpPr/>
          <p:nvPr/>
        </p:nvSpPr>
        <p:spPr>
          <a:xfrm>
            <a:off x="5861003" y="4445794"/>
            <a:ext cx="5669218" cy="1161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6000"/>
              </a:lnSpc>
              <a:buNone/>
            </a:pPr>
            <a:r>
              <a:rPr lang="en-US" sz="8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→ Increase inventory</a:t>
            </a:r>
            <a:endParaRPr lang="en-US" sz="85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33360" y="4784626"/>
            <a:ext cx="561068" cy="673298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5861003" y="4896842"/>
            <a:ext cx="5669218" cy="1823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b="1" spc="-22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HIGH-VALUE CUSTOMER</a:t>
            </a:r>
            <a:endParaRPr lang="en-US" sz="1100" dirty="0"/>
          </a:p>
        </p:txBody>
      </p:sp>
      <p:sp>
        <p:nvSpPr>
          <p:cNvPr id="18" name="Text 11"/>
          <p:cNvSpPr/>
          <p:nvPr/>
        </p:nvSpPr>
        <p:spPr>
          <a:xfrm>
            <a:off x="5861003" y="5119092"/>
            <a:ext cx="5669218" cy="1161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6000"/>
              </a:lnSpc>
              <a:buNone/>
            </a:pPr>
            <a:r>
              <a:rPr lang="en-US" sz="8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→ Target with offers</a:t>
            </a:r>
            <a:endParaRPr lang="en-US" sz="850" dirty="0"/>
          </a:p>
        </p:txBody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33360" y="5457924"/>
            <a:ext cx="561068" cy="673298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5861003" y="5570141"/>
            <a:ext cx="5669218" cy="1823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b="1" spc="-22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SALES DROP</a:t>
            </a:r>
            <a:endParaRPr lang="en-US" sz="1100" dirty="0"/>
          </a:p>
        </p:txBody>
      </p:sp>
      <p:sp>
        <p:nvSpPr>
          <p:cNvPr id="21" name="Text 13"/>
          <p:cNvSpPr/>
          <p:nvPr/>
        </p:nvSpPr>
        <p:spPr>
          <a:xfrm>
            <a:off x="5861003" y="5792391"/>
            <a:ext cx="5669218" cy="1161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6000"/>
              </a:lnSpc>
              <a:buNone/>
            </a:pPr>
            <a:r>
              <a:rPr lang="en-US" sz="8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→ Take corrective action</a:t>
            </a:r>
            <a:endParaRPr lang="en-US" sz="850" dirty="0"/>
          </a:p>
        </p:txBody>
      </p:sp>
      <p:sp>
        <p:nvSpPr>
          <p:cNvPr id="22" name="Text 14"/>
          <p:cNvSpPr/>
          <p:nvPr/>
        </p:nvSpPr>
        <p:spPr>
          <a:xfrm>
            <a:off x="4928568" y="6206133"/>
            <a:ext cx="6906444" cy="1161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6000"/>
              </a:lnSpc>
              <a:buNone/>
            </a:pPr>
            <a:r>
              <a:rPr lang="en-US" sz="850" b="1" dirty="0">
                <a:solidFill>
                  <a:srgbClr val="00D4FF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ASSEMBLE THE DATA. DECODE THE BUSINESS.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91215" y="0"/>
            <a:ext cx="480048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957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30760" y="100000"/>
                </a:lnTo>
                <a:lnTo>
                  <a:pt x="26370" y="95510"/>
                </a:lnTo>
                <a:lnTo>
                  <a:pt x="26370" y="95310"/>
                </a:lnTo>
                <a:lnTo>
                  <a:pt x="25490" y="94530"/>
                </a:lnTo>
                <a:lnTo>
                  <a:pt x="25490" y="94340"/>
                </a:lnTo>
                <a:lnTo>
                  <a:pt x="22660" y="91210"/>
                </a:lnTo>
                <a:lnTo>
                  <a:pt x="18360" y="85550"/>
                </a:lnTo>
                <a:lnTo>
                  <a:pt x="15140" y="80660"/>
                </a:lnTo>
                <a:lnTo>
                  <a:pt x="11910" y="75000"/>
                </a:lnTo>
                <a:lnTo>
                  <a:pt x="9280" y="69530"/>
                </a:lnTo>
                <a:lnTo>
                  <a:pt x="6840" y="63380"/>
                </a:lnTo>
                <a:lnTo>
                  <a:pt x="4790" y="56740"/>
                </a:lnTo>
                <a:lnTo>
                  <a:pt x="3320" y="50200"/>
                </a:lnTo>
                <a:lnTo>
                  <a:pt x="2440" y="44140"/>
                </a:lnTo>
                <a:lnTo>
                  <a:pt x="2050" y="39060"/>
                </a:lnTo>
                <a:lnTo>
                  <a:pt x="2050" y="30860"/>
                </a:lnTo>
                <a:lnTo>
                  <a:pt x="2540" y="25000"/>
                </a:lnTo>
                <a:lnTo>
                  <a:pt x="3320" y="19820"/>
                </a:lnTo>
                <a:lnTo>
                  <a:pt x="4880" y="12890"/>
                </a:lnTo>
                <a:lnTo>
                  <a:pt x="6930" y="6350"/>
                </a:lnTo>
                <a:close/>
              </a:path>
            </a:pathLst>
          </a:custGeom>
        </p:spPr>
      </p:pic>
      <p:sp>
        <p:nvSpPr>
          <p:cNvPr id="3" name="Text 0"/>
          <p:cNvSpPr/>
          <p:nvPr/>
        </p:nvSpPr>
        <p:spPr>
          <a:xfrm>
            <a:off x="661475" y="2432050"/>
            <a:ext cx="6296860" cy="614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3700" b="1" spc="-74" kern="0" dirty="0">
                <a:solidFill>
                  <a:srgbClr val="EF4444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S.H.I.E.L.D. ARCHIVES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661475" y="3121918"/>
            <a:ext cx="6296860" cy="614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3700" b="1" spc="-74" kern="0" dirty="0">
                <a:solidFill>
                  <a:srgbClr val="00D4FF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SQL FOR LARGE DATASETS</a:t>
            </a:r>
            <a:endParaRPr lang="en-US" sz="3700" dirty="0"/>
          </a:p>
        </p:txBody>
      </p:sp>
      <p:sp>
        <p:nvSpPr>
          <p:cNvPr id="5" name="Text 2"/>
          <p:cNvSpPr/>
          <p:nvPr/>
        </p:nvSpPr>
        <p:spPr>
          <a:xfrm>
            <a:off x="661475" y="3811786"/>
            <a:ext cx="6296860" cy="6141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850" b="1" spc="-37" kern="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Querying 500M+ Soviet &amp; Red Room Surveillance Logs with Black Widow.</a:t>
            </a:r>
            <a:endParaRPr lang="en-US" sz="1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80048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0"/>
                </a:moveTo>
                <a:lnTo>
                  <a:pt x="90530" y="100"/>
                </a:lnTo>
                <a:lnTo>
                  <a:pt x="93070" y="6350"/>
                </a:lnTo>
                <a:lnTo>
                  <a:pt x="94920" y="12210"/>
                </a:lnTo>
                <a:lnTo>
                  <a:pt x="96680" y="19820"/>
                </a:lnTo>
                <a:lnTo>
                  <a:pt x="97560" y="25880"/>
                </a:lnTo>
                <a:lnTo>
                  <a:pt x="97950" y="30960"/>
                </a:lnTo>
                <a:lnTo>
                  <a:pt x="97950" y="39060"/>
                </a:lnTo>
                <a:lnTo>
                  <a:pt x="97270" y="46480"/>
                </a:lnTo>
                <a:lnTo>
                  <a:pt x="96190" y="52640"/>
                </a:lnTo>
                <a:lnTo>
                  <a:pt x="94730" y="58500"/>
                </a:lnTo>
                <a:lnTo>
                  <a:pt x="92480" y="65230"/>
                </a:lnTo>
                <a:lnTo>
                  <a:pt x="89550" y="72070"/>
                </a:lnTo>
                <a:lnTo>
                  <a:pt x="86820" y="77340"/>
                </a:lnTo>
                <a:lnTo>
                  <a:pt x="83500" y="82810"/>
                </a:lnTo>
                <a:lnTo>
                  <a:pt x="79200" y="88870"/>
                </a:lnTo>
                <a:lnTo>
                  <a:pt x="75880" y="92770"/>
                </a:lnTo>
                <a:lnTo>
                  <a:pt x="75880" y="92970"/>
                </a:lnTo>
                <a:lnTo>
                  <a:pt x="74510" y="94340"/>
                </a:lnTo>
                <a:lnTo>
                  <a:pt x="74510" y="94530"/>
                </a:lnTo>
                <a:lnTo>
                  <a:pt x="69240" y="100000"/>
                </a:lnTo>
                <a:lnTo>
                  <a:pt x="0" y="100000"/>
                </a:lnTo>
                <a:close/>
              </a:path>
            </a:pathLst>
          </a:custGeom>
        </p:spPr>
      </p:pic>
      <p:sp>
        <p:nvSpPr>
          <p:cNvPr id="3" name="Text 0"/>
          <p:cNvSpPr/>
          <p:nvPr/>
        </p:nvSpPr>
        <p:spPr>
          <a:xfrm>
            <a:off x="5233360" y="711498"/>
            <a:ext cx="6296860" cy="537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3250" b="1" spc="-65" kern="0" dirty="0">
                <a:solidFill>
                  <a:srgbClr val="EF4444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STRATEGIC INDEXING</a:t>
            </a:r>
            <a:endParaRPr lang="en-US" sz="3250" dirty="0"/>
          </a:p>
        </p:txBody>
      </p:sp>
      <p:sp>
        <p:nvSpPr>
          <p:cNvPr id="4" name="Text 1"/>
          <p:cNvSpPr/>
          <p:nvPr/>
        </p:nvSpPr>
        <p:spPr>
          <a:xfrm>
            <a:off x="5233360" y="1306810"/>
            <a:ext cx="6296860" cy="2687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600" b="1" spc="-33" kern="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B-TREE VS COMPOSITE INDEXES</a:t>
            </a:r>
            <a:endParaRPr lang="en-US" sz="16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33360" y="1792585"/>
            <a:ext cx="6296860" cy="92581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493902" y="1976934"/>
            <a:ext cx="5851974" cy="2687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00" b="1" spc="-33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B-Tree Indexes</a:t>
            </a:r>
            <a:endParaRPr lang="en-US" sz="1600" dirty="0"/>
          </a:p>
        </p:txBody>
      </p:sp>
      <p:sp>
        <p:nvSpPr>
          <p:cNvPr id="7" name="Text 3"/>
          <p:cNvSpPr/>
          <p:nvPr/>
        </p:nvSpPr>
        <p:spPr>
          <a:xfrm>
            <a:off x="5493902" y="2332534"/>
            <a:ext cx="5851974" cy="201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Fast lookups, ordered data structure.</a:t>
            </a:r>
            <a:endParaRPr lang="en-US" sz="13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33360" y="2863056"/>
            <a:ext cx="6296860" cy="92581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5493902" y="3047405"/>
            <a:ext cx="5851974" cy="2687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00" b="1" spc="-33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Composite Indexes</a:t>
            </a:r>
            <a:endParaRPr lang="en-US" sz="1600" dirty="0"/>
          </a:p>
        </p:txBody>
      </p:sp>
      <p:sp>
        <p:nvSpPr>
          <p:cNvPr id="10" name="Text 5"/>
          <p:cNvSpPr/>
          <p:nvPr/>
        </p:nvSpPr>
        <p:spPr>
          <a:xfrm>
            <a:off x="5493902" y="3403005"/>
            <a:ext cx="5851974" cy="201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Multiple columns for complex queries.</a:t>
            </a:r>
            <a:endParaRPr lang="en-US" sz="13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233360" y="3933527"/>
            <a:ext cx="6296860" cy="92581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5493902" y="4117876"/>
            <a:ext cx="5851974" cy="2687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00" b="1" spc="-33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Covering Indexes with INCLUDE clause</a:t>
            </a:r>
            <a:endParaRPr lang="en-US" sz="1600" dirty="0"/>
          </a:p>
        </p:txBody>
      </p:sp>
      <p:sp>
        <p:nvSpPr>
          <p:cNvPr id="13" name="Text 7"/>
          <p:cNvSpPr/>
          <p:nvPr/>
        </p:nvSpPr>
        <p:spPr>
          <a:xfrm>
            <a:off x="5493902" y="4473476"/>
            <a:ext cx="5851974" cy="201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Avoid expensive row lookups by including all necessary columns.</a:t>
            </a:r>
            <a:endParaRPr lang="en-US" sz="1300" dirty="0"/>
          </a:p>
        </p:txBody>
      </p:sp>
      <p:sp>
        <p:nvSpPr>
          <p:cNvPr id="14" name="Shape 8"/>
          <p:cNvSpPr/>
          <p:nvPr/>
        </p:nvSpPr>
        <p:spPr>
          <a:xfrm>
            <a:off x="5233360" y="5022056"/>
            <a:ext cx="6296860" cy="1124446"/>
          </a:xfrm>
          <a:prstGeom prst="roundRect">
            <a:avLst>
              <a:gd name="adj" fmla="val 6178"/>
            </a:avLst>
          </a:prstGeom>
          <a:solidFill>
            <a:srgbClr val="1D232D"/>
          </a:solidFill>
          <a:ln/>
        </p:spPr>
      </p:sp>
      <p:sp>
        <p:nvSpPr>
          <p:cNvPr id="15" name="Text 9"/>
          <p:cNvSpPr/>
          <p:nvPr/>
        </p:nvSpPr>
        <p:spPr>
          <a:xfrm>
            <a:off x="5431793" y="5187355"/>
            <a:ext cx="5899995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operative_id, mission_date, target_location</a:t>
            </a:r>
            <a:endParaRPr lang="en-US" sz="13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missions</a:t>
            </a:r>
            <a:endParaRPr lang="en-US" sz="13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operative_id = 'Natasha Romanoff' AND mission_date &gt; '2023-01-01';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957263"/>
            <a:ext cx="10868745" cy="614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3700" b="1" spc="-74" kern="0" dirty="0">
                <a:solidFill>
                  <a:srgbClr val="00D4FF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TABLE PARTITIONING:</a:t>
            </a:r>
            <a:pPr algn="ctr" indent="0" marL="0">
              <a:lnSpc>
                <a:spcPct val="108000"/>
              </a:lnSpc>
              <a:buNone/>
            </a:pPr>
            <a:r>
              <a:rPr lang="en-US" sz="3700" b="1" spc="-74" kern="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 </a:t>
            </a:r>
            <a:pPr algn="ctr" indent="0" marL="0">
              <a:lnSpc>
                <a:spcPct val="108000"/>
              </a:lnSpc>
              <a:buNone/>
            </a:pPr>
            <a:r>
              <a:rPr lang="en-US" sz="3700" b="1" spc="-74" kern="0" dirty="0">
                <a:solidFill>
                  <a:srgbClr val="EF4444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DIVIDE &amp; CONQUER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1647130"/>
            <a:ext cx="10868745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850" b="1" spc="-37" kern="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BLACK WIDOW'S STRATEGIC DATA SPLITS</a:t>
            </a:r>
            <a:endParaRPr lang="en-US" sz="18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2237680"/>
            <a:ext cx="10868745" cy="109497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77479" y="2452092"/>
            <a:ext cx="10338335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850" b="1" spc="-37" kern="0" dirty="0">
                <a:solidFill>
                  <a:srgbClr val="00D4FF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Range Partitioning</a:t>
            </a:r>
            <a:pPr algn="l" indent="0" marL="0">
              <a:lnSpc>
                <a:spcPct val="108000"/>
              </a:lnSpc>
              <a:buNone/>
            </a:pPr>
            <a:r>
              <a:rPr lang="en-US" sz="1850" b="1" spc="-37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 by mission date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977479" y="2872581"/>
            <a:ext cx="10338335" cy="245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Organize data chronologically, query only relevant time periods</a:t>
            </a:r>
            <a:endParaRPr lang="en-US" sz="14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3521670"/>
            <a:ext cx="10868745" cy="109497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77479" y="3736082"/>
            <a:ext cx="10338335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850" b="1" spc="-37" kern="0" dirty="0">
                <a:solidFill>
                  <a:srgbClr val="EF4444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Hash Partitioning</a:t>
            </a:r>
            <a:pPr algn="l" indent="0" marL="0">
              <a:lnSpc>
                <a:spcPct val="108000"/>
              </a:lnSpc>
              <a:buNone/>
            </a:pPr>
            <a:r>
              <a:rPr lang="en-US" sz="1850" b="1" spc="-37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 by operative ID</a:t>
            </a:r>
            <a:endParaRPr lang="en-US" sz="1850" dirty="0"/>
          </a:p>
        </p:txBody>
      </p:sp>
      <p:sp>
        <p:nvSpPr>
          <p:cNvPr id="9" name="Text 5"/>
          <p:cNvSpPr/>
          <p:nvPr/>
        </p:nvSpPr>
        <p:spPr>
          <a:xfrm>
            <a:off x="977479" y="4156571"/>
            <a:ext cx="10338335" cy="245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Distribute data evenly across partitions, parallel query execution</a:t>
            </a:r>
            <a:endParaRPr lang="en-US" sz="14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1475" y="4805660"/>
            <a:ext cx="10868745" cy="109497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77479" y="5020072"/>
            <a:ext cx="10338335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850" b="1" spc="-37" kern="0" dirty="0">
                <a:solidFill>
                  <a:srgbClr val="00D4FF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Partition Pruning</a:t>
            </a:r>
            <a:endParaRPr lang="en-US" sz="1850" dirty="0"/>
          </a:p>
        </p:txBody>
      </p:sp>
      <p:sp>
        <p:nvSpPr>
          <p:cNvPr id="12" name="Text 7"/>
          <p:cNvSpPr/>
          <p:nvPr/>
        </p:nvSpPr>
        <p:spPr>
          <a:xfrm>
            <a:off x="977479" y="5440561"/>
            <a:ext cx="10338335" cy="245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Database automatically skips irrelevant partitions during query execution</a:t>
            </a:r>
            <a:endParaRPr lang="en-US" sz="14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19807"/>
            <a:ext cx="10868745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850" b="1" spc="-37" kern="0" dirty="0">
                <a:solidFill>
                  <a:srgbClr val="00D4FF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PERFORMANCE METRICS:</a:t>
            </a:r>
            <a:pPr algn="ctr" indent="0" marL="0">
              <a:lnSpc>
                <a:spcPct val="108000"/>
              </a:lnSpc>
              <a:buNone/>
            </a:pPr>
            <a:r>
              <a:rPr lang="en-US" sz="1850" b="1" spc="-37" kern="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 </a:t>
            </a:r>
            <a:pPr algn="ctr" indent="0" marL="0">
              <a:lnSpc>
                <a:spcPct val="108000"/>
              </a:lnSpc>
              <a:buNone/>
            </a:pPr>
            <a:r>
              <a:rPr lang="en-US" sz="1850" b="1" spc="-37" kern="0" dirty="0">
                <a:solidFill>
                  <a:srgbClr val="EF4444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THE EVIDENCE</a:t>
            </a:r>
            <a:endParaRPr lang="en-US" sz="1850" dirty="0"/>
          </a:p>
        </p:txBody>
      </p:sp>
      <p:sp>
        <p:nvSpPr>
          <p:cNvPr id="3" name="Text 1"/>
          <p:cNvSpPr/>
          <p:nvPr/>
        </p:nvSpPr>
        <p:spPr>
          <a:xfrm>
            <a:off x="661475" y="845741"/>
            <a:ext cx="10868745" cy="153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900" b="1" spc="-19" kern="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Querying 500M+ Surveillance Logs</a:t>
            </a:r>
            <a:endParaRPr lang="en-US" sz="9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070173"/>
            <a:ext cx="10868745" cy="608657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56682" y="7209830"/>
            <a:ext cx="11478330" cy="921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1000"/>
              </a:lnSpc>
              <a:buNone/>
            </a:pPr>
            <a:r>
              <a:rPr lang="en-US" sz="7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Black Widow's Arsenal: Each optimization technique compounds the benefits. Combining partitioning with indexes and materialized views achieves 710x faster query execution compared to full table scans.</a:t>
            </a:r>
            <a:endParaRPr lang="en-US" sz="7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57113"/>
            <a:ext cx="10868745" cy="547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3300" b="1" spc="-66" kern="0" dirty="0">
                <a:solidFill>
                  <a:srgbClr val="00D4FF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ADVANCED QUERY TACTICS:</a:t>
            </a:r>
            <a:pPr algn="ctr" indent="0" marL="0">
              <a:lnSpc>
                <a:spcPct val="108000"/>
              </a:lnSpc>
              <a:buNone/>
            </a:pPr>
            <a:r>
              <a:rPr lang="en-US" sz="3300" b="1" spc="-66" kern="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 </a:t>
            </a:r>
            <a:pPr algn="ctr" indent="0" marL="0">
              <a:lnSpc>
                <a:spcPct val="108000"/>
              </a:lnSpc>
              <a:buNone/>
            </a:pPr>
            <a:r>
              <a:rPr lang="en-US" sz="3300" b="1" spc="-66" kern="0" dirty="0">
                <a:solidFill>
                  <a:srgbClr val="EF4444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FINAL MOVES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661475" y="1164134"/>
            <a:ext cx="10868745" cy="2735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650" b="1" spc="-33" kern="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BLACK WIDOW'S OPERATIONAL STRATEGIES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661475" y="1812429"/>
            <a:ext cx="3311442" cy="5470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50" b="1" spc="-33" kern="0" dirty="0">
                <a:solidFill>
                  <a:srgbClr val="00D4FF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1. Window Functions (DENSE_RANK)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661475" y="2509441"/>
            <a:ext cx="3311442" cy="413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Rank operatives by mission count within each region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61475" y="3091855"/>
            <a:ext cx="3311442" cy="1683445"/>
          </a:xfrm>
          <a:prstGeom prst="roundRect">
            <a:avLst>
              <a:gd name="adj" fmla="val 4200"/>
            </a:avLst>
          </a:prstGeom>
          <a:solidFill>
            <a:srgbClr val="1D232D"/>
          </a:solidFill>
          <a:ln/>
        </p:spPr>
      </p:sp>
      <p:sp>
        <p:nvSpPr>
          <p:cNvPr id="7" name="Text 5"/>
          <p:cNvSpPr/>
          <p:nvPr/>
        </p:nvSpPr>
        <p:spPr>
          <a:xfrm>
            <a:off x="863479" y="3260130"/>
            <a:ext cx="2907434" cy="13468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operative_id, region, mission_count, DENSE_RANK() OVER (PARTITION BY region ORDER BY mission_count DESC) AS rank FROM operative_stats;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1475" y="4943971"/>
            <a:ext cx="3311442" cy="413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Benefit:</a:t>
            </a:r>
            <a:pPr algn="l"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Identify top performers per region without losing granularity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390022" y="1812429"/>
            <a:ext cx="3424251" cy="2735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50" b="1" spc="-33" kern="0" dirty="0">
                <a:solidFill>
                  <a:srgbClr val="EF4444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2. Materialized Views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4390022" y="2235895"/>
            <a:ext cx="3424251" cy="413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Pre-compute expensive aggregations and store results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390022" y="2818309"/>
            <a:ext cx="3424251" cy="1952823"/>
          </a:xfrm>
          <a:prstGeom prst="roundRect">
            <a:avLst>
              <a:gd name="adj" fmla="val 3621"/>
            </a:avLst>
          </a:prstGeom>
          <a:solidFill>
            <a:srgbClr val="1D232D"/>
          </a:solidFill>
          <a:ln/>
        </p:spPr>
      </p:sp>
      <p:sp>
        <p:nvSpPr>
          <p:cNvPr id="12" name="Text 10"/>
          <p:cNvSpPr/>
          <p:nvPr/>
        </p:nvSpPr>
        <p:spPr>
          <a:xfrm>
            <a:off x="4592027" y="2986584"/>
            <a:ext cx="3020242" cy="16162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MATERIALIZED VIEW operative_summary AS SELECT operative_id, COUNT(*) AS total_missions, AVG(threat_level) AS avg_threat FROM missions GROUP BY operative_id;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390022" y="4939804"/>
            <a:ext cx="3424251" cy="413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Benefit:</a:t>
            </a:r>
            <a:pPr algn="l"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Instant query results, refresh on schedule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231378" y="1812429"/>
            <a:ext cx="3311442" cy="5470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50" b="1" spc="-33" kern="0" dirty="0">
                <a:solidFill>
                  <a:srgbClr val="00D4FF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3. CTE Batching for Heavy Updates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8231378" y="2509441"/>
            <a:ext cx="3311442" cy="413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Use CTEs to organize multi-step updates efficiently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231378" y="3091855"/>
            <a:ext cx="3311442" cy="2491581"/>
          </a:xfrm>
          <a:prstGeom prst="roundRect">
            <a:avLst>
              <a:gd name="adj" fmla="val 2838"/>
            </a:avLst>
          </a:prstGeom>
          <a:solidFill>
            <a:srgbClr val="1D232D"/>
          </a:solidFill>
          <a:ln/>
        </p:spPr>
      </p:sp>
      <p:sp>
        <p:nvSpPr>
          <p:cNvPr id="17" name="Text 15"/>
          <p:cNvSpPr/>
          <p:nvPr/>
        </p:nvSpPr>
        <p:spPr>
          <a:xfrm>
            <a:off x="8433383" y="3260130"/>
            <a:ext cx="2907434" cy="21550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 updated_operatives AS (SELECT operative_id FROM missions WHERE status='completed' AND date &gt; '2023-01-01') UPDATE operative_stats SET last_active = NOW() WHERE operative_id IN (SELECT operative_id FROM updated_operatives);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231378" y="5752108"/>
            <a:ext cx="3311442" cy="413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Benefit:</a:t>
            </a:r>
            <a:pPr algn="l"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Cleaner code, better performance on large updates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64282"/>
            <a:ext cx="10868745" cy="614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3700" b="1" spc="-74" kern="0" dirty="0">
                <a:solidFill>
                  <a:srgbClr val="22C55E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SQL FOR DATA ANALYTICS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1454150"/>
            <a:ext cx="10868745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850" b="1" spc="-37" kern="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Turning Raw Data Into Meaningful Insights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661475" y="2044700"/>
            <a:ext cx="10868745" cy="11809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94640" indent="-294640">
              <a:lnSpc>
                <a:spcPct val="108000"/>
              </a:lnSpc>
              <a:buSzPct val="100000"/>
              <a:buChar char="•"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SQL helps us explore and understand data.</a:t>
            </a:r>
            <a:endParaRPr lang="en-US" sz="1450" dirty="0"/>
          </a:p>
          <a:p>
            <a:pPr algn="l" marL="294640" indent="-294640">
              <a:lnSpc>
                <a:spcPct val="108000"/>
              </a:lnSpc>
              <a:buSzPct val="100000"/>
              <a:buChar char="•"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It can filter, sort and organize information.</a:t>
            </a:r>
            <a:endParaRPr lang="en-US" sz="1450" dirty="0"/>
          </a:p>
          <a:p>
            <a:pPr algn="l" marL="294640" indent="-294640">
              <a:lnSpc>
                <a:spcPct val="108000"/>
              </a:lnSpc>
              <a:buSzPct val="100000"/>
              <a:buChar char="•"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It can combine data from multiple tables.</a:t>
            </a:r>
            <a:endParaRPr lang="en-US" sz="1450" dirty="0"/>
          </a:p>
          <a:p>
            <a:pPr algn="l" marL="294640" indent="-294640">
              <a:lnSpc>
                <a:spcPct val="108000"/>
              </a:lnSpc>
              <a:buSzPct val="100000"/>
              <a:buChar char="•"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It can calculate useful statistics.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61475" y="3438227"/>
            <a:ext cx="10868745" cy="1285280"/>
          </a:xfrm>
          <a:prstGeom prst="roundRect">
            <a:avLst>
              <a:gd name="adj" fmla="val 6177"/>
            </a:avLst>
          </a:prstGeom>
          <a:solidFill>
            <a:srgbClr val="181C26"/>
          </a:solidFill>
          <a:ln/>
        </p:spPr>
      </p:sp>
      <p:sp>
        <p:nvSpPr>
          <p:cNvPr id="6" name="Text 4"/>
          <p:cNvSpPr/>
          <p:nvPr/>
        </p:nvSpPr>
        <p:spPr>
          <a:xfrm>
            <a:off x="888283" y="3627239"/>
            <a:ext cx="10415129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category, SUM(sales)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orders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category;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661475" y="4936133"/>
            <a:ext cx="11478330" cy="245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Finds total sales for each category.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61475" y="5394424"/>
            <a:ext cx="10868745" cy="699195"/>
          </a:xfrm>
          <a:prstGeom prst="roundRect">
            <a:avLst>
              <a:gd name="adj" fmla="val 11354"/>
            </a:avLst>
          </a:prstGeom>
          <a:solidFill>
            <a:srgbClr val="002A80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482" y="5636716"/>
            <a:ext cx="236234" cy="18901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275723" y="5630664"/>
            <a:ext cx="10675075" cy="245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SQL helps us find the story hidden inside data.</a:t>
            </a:r>
            <a:endParaRPr lang="en-US" sz="14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9134"/>
            <a:ext cx="10868745" cy="4799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2900" b="1" spc="-58" kern="0" dirty="0">
                <a:solidFill>
                  <a:srgbClr val="00FF88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HOW SQL ANALYZES DATA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661475" y="1055191"/>
            <a:ext cx="10868745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450" b="1" spc="-29" kern="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Turning Raw Data Into Meaningful Insights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61475" y="1468140"/>
            <a:ext cx="2630719" cy="1358900"/>
          </a:xfrm>
          <a:prstGeom prst="roundRect">
            <a:avLst>
              <a:gd name="adj" fmla="val 4564"/>
            </a:avLst>
          </a:prstGeom>
          <a:solidFill>
            <a:srgbClr val="101620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1808" y="1628477"/>
            <a:ext cx="443001" cy="443012"/>
          </a:xfrm>
          <a:prstGeom prst="ellipse">
            <a:avLst/>
          </a:prstGeom>
          <a:solidFill>
            <a:srgbClr val="00FF88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43646" y="1750219"/>
            <a:ext cx="199325" cy="19933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1808" y="2186781"/>
            <a:ext cx="2310052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450" b="1" spc="-29" kern="0" dirty="0">
                <a:solidFill>
                  <a:srgbClr val="0B0E14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WHERE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21808" y="2495848"/>
            <a:ext cx="2310052" cy="1708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Filter the required records.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407484" y="1468140"/>
            <a:ext cx="2630719" cy="1358900"/>
          </a:xfrm>
          <a:prstGeom prst="roundRect">
            <a:avLst>
              <a:gd name="adj" fmla="val 4564"/>
            </a:avLst>
          </a:prstGeom>
          <a:solidFill>
            <a:srgbClr val="101620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567817" y="1628477"/>
            <a:ext cx="443001" cy="443012"/>
          </a:xfrm>
          <a:prstGeom prst="ellipse">
            <a:avLst/>
          </a:prstGeom>
          <a:solidFill>
            <a:srgbClr val="00D4F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689655" y="1750219"/>
            <a:ext cx="199325" cy="19933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67817" y="2186781"/>
            <a:ext cx="2310052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450" b="1" spc="-29" kern="0" dirty="0">
                <a:solidFill>
                  <a:srgbClr val="0B0E14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ORDER BY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3567817" y="2495848"/>
            <a:ext cx="2310052" cy="1708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Sort results.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153492" y="1468140"/>
            <a:ext cx="2630719" cy="1358900"/>
          </a:xfrm>
          <a:prstGeom prst="roundRect">
            <a:avLst>
              <a:gd name="adj" fmla="val 4564"/>
            </a:avLst>
          </a:prstGeom>
          <a:solidFill>
            <a:srgbClr val="10162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313826" y="1628477"/>
            <a:ext cx="443001" cy="443012"/>
          </a:xfrm>
          <a:prstGeom prst="ellipse">
            <a:avLst/>
          </a:prstGeom>
          <a:solidFill>
            <a:srgbClr val="FFD700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35663" y="1750219"/>
            <a:ext cx="199325" cy="19933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313826" y="2186781"/>
            <a:ext cx="2310052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450" b="1" spc="-29" kern="0" dirty="0">
                <a:solidFill>
                  <a:srgbClr val="0B0E14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GROUP BY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6313826" y="2495848"/>
            <a:ext cx="2310052" cy="1708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Organize data into categories.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8899501" y="1468140"/>
            <a:ext cx="2630719" cy="1358900"/>
          </a:xfrm>
          <a:prstGeom prst="roundRect">
            <a:avLst>
              <a:gd name="adj" fmla="val 4564"/>
            </a:avLst>
          </a:prstGeom>
          <a:solidFill>
            <a:srgbClr val="101620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9059834" y="1628477"/>
            <a:ext cx="443001" cy="443012"/>
          </a:xfrm>
          <a:prstGeom prst="ellipse">
            <a:avLst/>
          </a:prstGeom>
          <a:solidFill>
            <a:srgbClr val="EF4444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181672" y="1750219"/>
            <a:ext cx="199325" cy="19933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059834" y="2186781"/>
            <a:ext cx="2310052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450" b="1" spc="-29" kern="0" dirty="0">
                <a:solidFill>
                  <a:srgbClr val="0B0E14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COUNT / SUM / AVG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9059834" y="2495848"/>
            <a:ext cx="2310052" cy="1708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Calculate useful metrics.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661475" y="2942332"/>
            <a:ext cx="10868745" cy="1358900"/>
          </a:xfrm>
          <a:prstGeom prst="roundRect">
            <a:avLst>
              <a:gd name="adj" fmla="val 4564"/>
            </a:avLst>
          </a:prstGeom>
          <a:solidFill>
            <a:srgbClr val="101620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821808" y="3102670"/>
            <a:ext cx="443001" cy="443012"/>
          </a:xfrm>
          <a:prstGeom prst="ellipse">
            <a:avLst/>
          </a:prstGeom>
          <a:solidFill>
            <a:srgbClr val="00FF88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43646" y="3224411"/>
            <a:ext cx="199325" cy="19933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821808" y="3660973"/>
            <a:ext cx="10548078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450" b="1" spc="-29" kern="0" dirty="0">
                <a:solidFill>
                  <a:srgbClr val="FFFFFF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JOIN</a:t>
            </a:r>
            <a:endParaRPr lang="en-US" sz="1450" dirty="0"/>
          </a:p>
        </p:txBody>
      </p:sp>
      <p:sp>
        <p:nvSpPr>
          <p:cNvPr id="28" name="Text 21"/>
          <p:cNvSpPr/>
          <p:nvPr/>
        </p:nvSpPr>
        <p:spPr>
          <a:xfrm>
            <a:off x="2711977" y="3970040"/>
            <a:ext cx="8657909" cy="1708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                      Combine information from different tables.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661475" y="4431010"/>
            <a:ext cx="10868745" cy="1003697"/>
          </a:xfrm>
          <a:prstGeom prst="roundRect">
            <a:avLst>
              <a:gd name="adj" fmla="val 6179"/>
            </a:avLst>
          </a:prstGeom>
          <a:solidFill>
            <a:srgbClr val="1D232D"/>
          </a:solidFill>
          <a:ln/>
        </p:spPr>
      </p:sp>
      <p:sp>
        <p:nvSpPr>
          <p:cNvPr id="30" name="Text 23"/>
          <p:cNvSpPr/>
          <p:nvPr/>
        </p:nvSpPr>
        <p:spPr>
          <a:xfrm>
            <a:off x="838675" y="4578648"/>
            <a:ext cx="10514345" cy="7084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category, AVG(price)</a:t>
            </a:r>
            <a:endParaRPr lang="en-US" sz="11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products</a:t>
            </a:r>
            <a:endParaRPr lang="en-US" sz="11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category;</a:t>
            </a:r>
            <a:endParaRPr lang="en-US" sz="1150" dirty="0"/>
          </a:p>
        </p:txBody>
      </p:sp>
      <p:sp>
        <p:nvSpPr>
          <p:cNvPr id="31" name="Text 24"/>
          <p:cNvSpPr/>
          <p:nvPr/>
        </p:nvSpPr>
        <p:spPr>
          <a:xfrm>
            <a:off x="661475" y="5564485"/>
            <a:ext cx="11478330" cy="1708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Calculates the average price of each category.</a:t>
            </a:r>
            <a:endParaRPr lang="en-US" sz="1150" dirty="0"/>
          </a:p>
        </p:txBody>
      </p:sp>
      <p:sp>
        <p:nvSpPr>
          <p:cNvPr id="32" name="Shape 25"/>
          <p:cNvSpPr/>
          <p:nvPr/>
        </p:nvSpPr>
        <p:spPr>
          <a:xfrm>
            <a:off x="661475" y="5865118"/>
            <a:ext cx="10868745" cy="463748"/>
          </a:xfrm>
          <a:prstGeom prst="roundRect">
            <a:avLst>
              <a:gd name="adj" fmla="val 13374"/>
            </a:avLst>
          </a:prstGeom>
          <a:solidFill>
            <a:srgbClr val="002A80"/>
          </a:solidFill>
          <a:ln/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09109" y="6017320"/>
            <a:ext cx="184542" cy="147638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1141285" y="6017320"/>
            <a:ext cx="10850886" cy="1708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SQL converts thousands of records into useful measurements.</a:t>
            </a:r>
            <a:endParaRPr lang="en-US" sz="11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54633"/>
            <a:ext cx="10868745" cy="537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3250" b="1" spc="-65" kern="0" dirty="0">
                <a:solidFill>
                  <a:srgbClr val="00D4FF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FROM SQL RESULTS TO REPORTS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661475" y="1149945"/>
            <a:ext cx="10868745" cy="2687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600" b="1" spc="-33" kern="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The Journey from Raw Data to Actionable Intelligence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61475" y="1635720"/>
            <a:ext cx="3526444" cy="1278235"/>
          </a:xfrm>
          <a:prstGeom prst="roundRect">
            <a:avLst>
              <a:gd name="adj" fmla="val 5434"/>
            </a:avLst>
          </a:prstGeom>
          <a:solidFill>
            <a:srgbClr val="101620"/>
          </a:solidFill>
          <a:ln w="19050">
            <a:solidFill>
              <a:srgbClr val="002A8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176606" y="1820069"/>
            <a:ext cx="496081" cy="496094"/>
          </a:xfrm>
          <a:prstGeom prst="ellipse">
            <a:avLst/>
          </a:prstGeom>
          <a:solidFill>
            <a:srgbClr val="487C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313029" y="1956395"/>
            <a:ext cx="223237" cy="22324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45819" y="2460823"/>
            <a:ext cx="3157756" cy="2687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600" b="1" spc="-33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DATABASE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4332576" y="1635720"/>
            <a:ext cx="3526444" cy="1278235"/>
          </a:xfrm>
          <a:prstGeom prst="roundRect">
            <a:avLst>
              <a:gd name="adj" fmla="val 5434"/>
            </a:avLst>
          </a:prstGeom>
          <a:solidFill>
            <a:srgbClr val="101620"/>
          </a:solidFill>
          <a:ln w="19050">
            <a:solidFill>
              <a:srgbClr val="002A8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847708" y="1820069"/>
            <a:ext cx="496081" cy="496094"/>
          </a:xfrm>
          <a:prstGeom prst="ellipse">
            <a:avLst/>
          </a:prstGeom>
          <a:solidFill>
            <a:srgbClr val="487CFF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984130" y="1956395"/>
            <a:ext cx="223237" cy="22324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516920" y="2460823"/>
            <a:ext cx="3157756" cy="2687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600" b="1" spc="-33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SQL QUERY</a:t>
            </a:r>
            <a:endParaRPr lang="en-US" sz="1600" dirty="0"/>
          </a:p>
        </p:txBody>
      </p:sp>
      <p:sp>
        <p:nvSpPr>
          <p:cNvPr id="12" name="Shape 8"/>
          <p:cNvSpPr/>
          <p:nvPr/>
        </p:nvSpPr>
        <p:spPr>
          <a:xfrm>
            <a:off x="8003677" y="1635720"/>
            <a:ext cx="3526444" cy="1278235"/>
          </a:xfrm>
          <a:prstGeom prst="roundRect">
            <a:avLst>
              <a:gd name="adj" fmla="val 5434"/>
            </a:avLst>
          </a:prstGeom>
          <a:solidFill>
            <a:srgbClr val="101620"/>
          </a:solidFill>
          <a:ln w="19050">
            <a:solidFill>
              <a:srgbClr val="002A80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9518809" y="1820069"/>
            <a:ext cx="496081" cy="496094"/>
          </a:xfrm>
          <a:prstGeom prst="ellipse">
            <a:avLst/>
          </a:prstGeom>
          <a:solidFill>
            <a:srgbClr val="487CFF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655231" y="1956395"/>
            <a:ext cx="223237" cy="22324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188021" y="2460823"/>
            <a:ext cx="3157756" cy="2687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600" b="1" spc="-33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ANALYSIS</a:t>
            </a:r>
            <a:endParaRPr lang="en-US" sz="1600" dirty="0"/>
          </a:p>
        </p:txBody>
      </p:sp>
      <p:sp>
        <p:nvSpPr>
          <p:cNvPr id="16" name="Shape 11"/>
          <p:cNvSpPr/>
          <p:nvPr/>
        </p:nvSpPr>
        <p:spPr>
          <a:xfrm>
            <a:off x="661475" y="3058616"/>
            <a:ext cx="5361945" cy="1278235"/>
          </a:xfrm>
          <a:prstGeom prst="roundRect">
            <a:avLst>
              <a:gd name="adj" fmla="val 5434"/>
            </a:avLst>
          </a:prstGeom>
          <a:solidFill>
            <a:srgbClr val="101620"/>
          </a:solidFill>
          <a:ln w="19050">
            <a:solidFill>
              <a:srgbClr val="002A80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3094357" y="3242965"/>
            <a:ext cx="496081" cy="496094"/>
          </a:xfrm>
          <a:prstGeom prst="ellipse">
            <a:avLst/>
          </a:prstGeom>
          <a:solidFill>
            <a:srgbClr val="487CFF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230779" y="3379291"/>
            <a:ext cx="223237" cy="22324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845819" y="3883720"/>
            <a:ext cx="4993257" cy="2687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600" b="1" spc="-33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REPORT</a:t>
            </a:r>
            <a:endParaRPr lang="en-US" sz="1600" dirty="0"/>
          </a:p>
        </p:txBody>
      </p:sp>
      <p:sp>
        <p:nvSpPr>
          <p:cNvPr id="20" name="Shape 14"/>
          <p:cNvSpPr/>
          <p:nvPr/>
        </p:nvSpPr>
        <p:spPr>
          <a:xfrm>
            <a:off x="6168077" y="3058616"/>
            <a:ext cx="5362044" cy="1278235"/>
          </a:xfrm>
          <a:prstGeom prst="roundRect">
            <a:avLst>
              <a:gd name="adj" fmla="val 5434"/>
            </a:avLst>
          </a:prstGeom>
          <a:solidFill>
            <a:srgbClr val="101620"/>
          </a:solidFill>
          <a:ln w="19050">
            <a:solidFill>
              <a:srgbClr val="002A80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8601058" y="3242965"/>
            <a:ext cx="496081" cy="496094"/>
          </a:xfrm>
          <a:prstGeom prst="ellipse">
            <a:avLst/>
          </a:prstGeom>
          <a:solidFill>
            <a:srgbClr val="487CFF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737481" y="3379291"/>
            <a:ext cx="223237" cy="223242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6352421" y="3883720"/>
            <a:ext cx="4993356" cy="2687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600" b="1" spc="-33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DECISION</a:t>
            </a:r>
            <a:endParaRPr lang="en-US" sz="1600" dirty="0"/>
          </a:p>
        </p:txBody>
      </p:sp>
      <p:sp>
        <p:nvSpPr>
          <p:cNvPr id="24" name="Text 17"/>
          <p:cNvSpPr/>
          <p:nvPr/>
        </p:nvSpPr>
        <p:spPr>
          <a:xfrm>
            <a:off x="661475" y="4553843"/>
            <a:ext cx="10868745" cy="3224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950" b="1" spc="-39" kern="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SQL can generate various essential reports:</a:t>
            </a:r>
            <a:endParaRPr lang="en-US" sz="1950" dirty="0"/>
          </a:p>
        </p:txBody>
      </p:sp>
      <p:sp>
        <p:nvSpPr>
          <p:cNvPr id="25" name="Text 18"/>
          <p:cNvSpPr/>
          <p:nvPr/>
        </p:nvSpPr>
        <p:spPr>
          <a:xfrm>
            <a:off x="661475" y="5093295"/>
            <a:ext cx="10868745" cy="12099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64160" indent="-264160">
              <a:lnSpc>
                <a:spcPct val="102000"/>
              </a:lnSpc>
              <a:buSzPct val="100000"/>
              <a:buChar char="•"/>
            </a:pP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Daily sales report</a:t>
            </a:r>
            <a:endParaRPr lang="en-US" sz="1300" dirty="0"/>
          </a:p>
          <a:p>
            <a:pPr algn="l" marL="264160" indent="-264160">
              <a:lnSpc>
                <a:spcPct val="102000"/>
              </a:lnSpc>
              <a:buSzPct val="100000"/>
              <a:buChar char="•"/>
            </a:pP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Customer report</a:t>
            </a:r>
            <a:endParaRPr lang="en-US" sz="1300" dirty="0"/>
          </a:p>
          <a:p>
            <a:pPr algn="l" marL="264160" indent="-264160">
              <a:lnSpc>
                <a:spcPct val="102000"/>
              </a:lnSpc>
              <a:buSzPct val="100000"/>
              <a:buChar char="•"/>
            </a:pP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Product performance report</a:t>
            </a:r>
            <a:endParaRPr lang="en-US" sz="1300" dirty="0"/>
          </a:p>
          <a:p>
            <a:pPr algn="l" marL="264160" indent="-264160">
              <a:lnSpc>
                <a:spcPct val="102000"/>
              </a:lnSpc>
              <a:buSzPct val="100000"/>
              <a:buChar char="•"/>
            </a:pP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Monthly revenue report</a:t>
            </a:r>
            <a:endParaRPr lang="en-US" sz="1300" dirty="0"/>
          </a:p>
          <a:p>
            <a:pPr algn="l" marL="264160" indent="-264160">
              <a:lnSpc>
                <a:spcPct val="102000"/>
              </a:lnSpc>
              <a:buSzPct val="100000"/>
              <a:buChar char="•"/>
            </a:pP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Employee performance report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91215" y="0"/>
            <a:ext cx="480048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957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30760" y="100000"/>
                </a:lnTo>
                <a:lnTo>
                  <a:pt x="26370" y="95510"/>
                </a:lnTo>
                <a:lnTo>
                  <a:pt x="26370" y="95310"/>
                </a:lnTo>
                <a:lnTo>
                  <a:pt x="25490" y="94530"/>
                </a:lnTo>
                <a:lnTo>
                  <a:pt x="25490" y="94340"/>
                </a:lnTo>
                <a:lnTo>
                  <a:pt x="22660" y="91210"/>
                </a:lnTo>
                <a:lnTo>
                  <a:pt x="18360" y="85550"/>
                </a:lnTo>
                <a:lnTo>
                  <a:pt x="15140" y="80660"/>
                </a:lnTo>
                <a:lnTo>
                  <a:pt x="11910" y="75000"/>
                </a:lnTo>
                <a:lnTo>
                  <a:pt x="9280" y="69530"/>
                </a:lnTo>
                <a:lnTo>
                  <a:pt x="6840" y="63380"/>
                </a:lnTo>
                <a:lnTo>
                  <a:pt x="4790" y="56740"/>
                </a:lnTo>
                <a:lnTo>
                  <a:pt x="3320" y="50200"/>
                </a:lnTo>
                <a:lnTo>
                  <a:pt x="2440" y="44140"/>
                </a:lnTo>
                <a:lnTo>
                  <a:pt x="2050" y="39060"/>
                </a:lnTo>
                <a:lnTo>
                  <a:pt x="2050" y="30860"/>
                </a:lnTo>
                <a:lnTo>
                  <a:pt x="2540" y="25000"/>
                </a:lnTo>
                <a:lnTo>
                  <a:pt x="3320" y="19820"/>
                </a:lnTo>
                <a:lnTo>
                  <a:pt x="4880" y="12890"/>
                </a:lnTo>
                <a:lnTo>
                  <a:pt x="6930" y="6350"/>
                </a:lnTo>
                <a:close/>
              </a:path>
            </a:pathLst>
          </a:custGeom>
        </p:spPr>
      </p:pic>
      <p:sp>
        <p:nvSpPr>
          <p:cNvPr id="3" name="Text 0"/>
          <p:cNvSpPr/>
          <p:nvPr/>
        </p:nvSpPr>
        <p:spPr>
          <a:xfrm>
            <a:off x="661475" y="575469"/>
            <a:ext cx="6296860" cy="12285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3700" b="1" spc="-74" kern="0" dirty="0">
                <a:solidFill>
                  <a:srgbClr val="00D4FF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INVENTORY MANAGEMENT SYSTEM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661475" y="1879600"/>
            <a:ext cx="6296860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850" b="1" spc="-37" kern="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KNOW WHAT YOU HAVE. KNOW WHAT YOU NEED.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661475" y="2470150"/>
            <a:ext cx="6906444" cy="245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Inventory Management System is a system used to: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661475" y="2928441"/>
            <a:ext cx="6296860" cy="14926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94640" indent="-294640">
              <a:lnSpc>
                <a:spcPct val="108000"/>
              </a:lnSpc>
              <a:buSzPct val="100000"/>
              <a:buChar char="•"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Track products and stock</a:t>
            </a:r>
            <a:endParaRPr lang="en-US" sz="1450" dirty="0"/>
          </a:p>
          <a:p>
            <a:pPr algn="l" marL="294640" indent="-294640">
              <a:lnSpc>
                <a:spcPct val="108000"/>
              </a:lnSpc>
              <a:buSzPct val="100000"/>
              <a:buChar char="•"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Record incoming and outgoing items</a:t>
            </a:r>
            <a:endParaRPr lang="en-US" sz="1450" dirty="0"/>
          </a:p>
          <a:p>
            <a:pPr algn="l" marL="294640" indent="-294640">
              <a:lnSpc>
                <a:spcPct val="108000"/>
              </a:lnSpc>
              <a:buSzPct val="100000"/>
              <a:buChar char="•"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Monitor available quantities</a:t>
            </a:r>
            <a:endParaRPr lang="en-US" sz="1450" dirty="0"/>
          </a:p>
          <a:p>
            <a:pPr algn="l" marL="294640" indent="-294640">
              <a:lnSpc>
                <a:spcPct val="108000"/>
              </a:lnSpc>
              <a:buSzPct val="100000"/>
              <a:buChar char="•"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Identify low-stock products</a:t>
            </a:r>
            <a:endParaRPr lang="en-US" sz="1450" dirty="0"/>
          </a:p>
          <a:p>
            <a:pPr algn="l" marL="294640" indent="-294640">
              <a:lnSpc>
                <a:spcPct val="108000"/>
              </a:lnSpc>
              <a:buSzPct val="100000"/>
              <a:buChar char="•"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Keep inventory information organized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661475" y="4633714"/>
            <a:ext cx="6296860" cy="491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An online store uses an inventory system to know how many products are available before accepting an order.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661475" y="5337671"/>
            <a:ext cx="6296860" cy="944860"/>
          </a:xfrm>
          <a:prstGeom prst="roundRect">
            <a:avLst>
              <a:gd name="adj" fmla="val 8402"/>
            </a:avLst>
          </a:prstGeom>
          <a:solidFill>
            <a:srgbClr val="002A80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482" y="5579963"/>
            <a:ext cx="236234" cy="18901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75723" y="5573911"/>
            <a:ext cx="5493605" cy="491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Inventory management gives a business a clear view of its stock.</a:t>
            </a:r>
            <a:endParaRPr lang="en-US" sz="14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65150"/>
            <a:ext cx="10868745" cy="5566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3350" b="1" spc="-67" kern="0" dirty="0">
                <a:solidFill>
                  <a:srgbClr val="00D4FF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Database Design: Two Core Tables</a:t>
            </a:r>
            <a:endParaRPr lang="en-US" sz="3350" dirty="0"/>
          </a:p>
        </p:txBody>
      </p:sp>
      <p:sp>
        <p:nvSpPr>
          <p:cNvPr id="3" name="Text 1"/>
          <p:cNvSpPr/>
          <p:nvPr/>
        </p:nvSpPr>
        <p:spPr>
          <a:xfrm>
            <a:off x="661475" y="1183779"/>
            <a:ext cx="10868745" cy="2783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650" b="1" spc="-34" kern="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The Core Data Foundation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661475" y="1850033"/>
            <a:ext cx="5225423" cy="2783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650" b="1" spc="-34" kern="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Dim_Product Table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661475" y="2283520"/>
            <a:ext cx="5225423" cy="35682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64160" indent="-264160">
              <a:lnSpc>
                <a:spcPct val="103000"/>
              </a:lnSpc>
              <a:buSzPct val="100000"/>
              <a:buChar char="•"/>
            </a:pPr>
            <a:r>
              <a:rPr lang="en-US" sz="13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product_id</a:t>
            </a:r>
            <a:pPr algn="l" marL="264160" indent="-264160">
              <a:lnSpc>
                <a:spcPct val="103000"/>
              </a:lnSpc>
              <a:buSzPct val="100000"/>
              <a:buChar char="•"/>
            </a:pP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: Unique identifier for each product</a:t>
            </a:r>
            <a:endParaRPr lang="en-US" sz="1300" dirty="0"/>
          </a:p>
          <a:p>
            <a:pPr algn="l" marL="264160" indent="-264160">
              <a:lnSpc>
                <a:spcPct val="103000"/>
              </a:lnSpc>
              <a:buSzPct val="100000"/>
              <a:buChar char="•"/>
            </a:pPr>
            <a:r>
              <a:rPr lang="en-US" sz="13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product_name</a:t>
            </a:r>
            <a:pPr algn="l" marL="264160" indent="-264160">
              <a:lnSpc>
                <a:spcPct val="103000"/>
              </a:lnSpc>
              <a:buSzPct val="100000"/>
              <a:buChar char="•"/>
            </a:pP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: Name of the product</a:t>
            </a:r>
            <a:endParaRPr lang="en-US" sz="1300" dirty="0"/>
          </a:p>
          <a:p>
            <a:pPr algn="l" marL="264160" indent="-264160">
              <a:lnSpc>
                <a:spcPct val="103000"/>
              </a:lnSpc>
              <a:buSzPct val="100000"/>
              <a:buChar char="•"/>
            </a:pPr>
            <a:r>
              <a:rPr lang="en-US" sz="13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brand</a:t>
            </a:r>
            <a:pPr algn="l" marL="264160" indent="-264160">
              <a:lnSpc>
                <a:spcPct val="103000"/>
              </a:lnSpc>
              <a:buSzPct val="100000"/>
              <a:buChar char="•"/>
            </a:pP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: Brand of the product</a:t>
            </a:r>
            <a:endParaRPr lang="en-US" sz="1300" dirty="0"/>
          </a:p>
          <a:p>
            <a:pPr algn="l" marL="264160" indent="-264160">
              <a:lnSpc>
                <a:spcPct val="103000"/>
              </a:lnSpc>
              <a:buSzPct val="100000"/>
              <a:buChar char="•"/>
            </a:pPr>
            <a:r>
              <a:rPr lang="en-US" sz="13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category</a:t>
            </a:r>
            <a:pPr algn="l" marL="264160" indent="-264160">
              <a:lnSpc>
                <a:spcPct val="103000"/>
              </a:lnSpc>
              <a:buSzPct val="100000"/>
              <a:buChar char="•"/>
            </a:pP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: Product category (e.g., Electronics)</a:t>
            </a:r>
            <a:endParaRPr lang="en-US" sz="1300" dirty="0"/>
          </a:p>
          <a:p>
            <a:pPr algn="l" marL="264160" indent="-264160">
              <a:lnSpc>
                <a:spcPct val="103000"/>
              </a:lnSpc>
              <a:buSzPct val="100000"/>
              <a:buChar char="•"/>
            </a:pPr>
            <a:r>
              <a:rPr lang="en-US" sz="13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subcategory</a:t>
            </a:r>
            <a:pPr algn="l" marL="264160" indent="-264160">
              <a:lnSpc>
                <a:spcPct val="103000"/>
              </a:lnSpc>
              <a:buSzPct val="100000"/>
              <a:buChar char="•"/>
            </a:pP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: More specific category (e.g., Laptops)</a:t>
            </a:r>
            <a:endParaRPr lang="en-US" sz="1300" dirty="0"/>
          </a:p>
          <a:p>
            <a:pPr algn="l" marL="264160" indent="-264160">
              <a:lnSpc>
                <a:spcPct val="103000"/>
              </a:lnSpc>
              <a:buSzPct val="100000"/>
              <a:buChar char="•"/>
            </a:pPr>
            <a:r>
              <a:rPr lang="en-US" sz="13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price</a:t>
            </a:r>
            <a:pPr algn="l" marL="264160" indent="-264160">
              <a:lnSpc>
                <a:spcPct val="103000"/>
              </a:lnSpc>
              <a:buSzPct val="100000"/>
              <a:buChar char="•"/>
            </a:pP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: Selling price of the product</a:t>
            </a:r>
            <a:endParaRPr lang="en-US" sz="1300" dirty="0"/>
          </a:p>
          <a:p>
            <a:pPr algn="l" marL="264160" indent="-264160">
              <a:lnSpc>
                <a:spcPct val="103000"/>
              </a:lnSpc>
              <a:buSzPct val="100000"/>
              <a:buChar char="•"/>
            </a:pPr>
            <a:r>
              <a:rPr lang="en-US" sz="13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rating_avg</a:t>
            </a:r>
            <a:pPr algn="l" marL="264160" indent="-264160">
              <a:lnSpc>
                <a:spcPct val="103000"/>
              </a:lnSpc>
              <a:buSzPct val="100000"/>
              <a:buChar char="•"/>
            </a:pP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: Average customer rating</a:t>
            </a:r>
            <a:endParaRPr lang="en-US" sz="1300" dirty="0"/>
          </a:p>
          <a:p>
            <a:pPr algn="l" marL="264160" indent="-264160">
              <a:lnSpc>
                <a:spcPct val="103000"/>
              </a:lnSpc>
              <a:buSzPct val="100000"/>
              <a:buChar char="•"/>
            </a:pPr>
            <a:r>
              <a:rPr lang="en-US" sz="13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review_count</a:t>
            </a:r>
            <a:pPr algn="l" marL="264160" indent="-264160">
              <a:lnSpc>
                <a:spcPct val="103000"/>
              </a:lnSpc>
              <a:buSzPct val="100000"/>
              <a:buChar char="•"/>
            </a:pP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: Number of customer reviews</a:t>
            </a:r>
            <a:endParaRPr lang="en-US" sz="1300" dirty="0"/>
          </a:p>
          <a:p>
            <a:pPr algn="l" marL="264160" indent="-264160">
              <a:lnSpc>
                <a:spcPct val="103000"/>
              </a:lnSpc>
              <a:buSzPct val="100000"/>
              <a:buChar char="•"/>
            </a:pPr>
            <a:r>
              <a:rPr lang="en-US" sz="13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date_added</a:t>
            </a:r>
            <a:pPr algn="l" marL="264160" indent="-264160">
              <a:lnSpc>
                <a:spcPct val="103000"/>
              </a:lnSpc>
              <a:buSzPct val="100000"/>
              <a:buChar char="•"/>
            </a:pP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: Date product was added to inventory</a:t>
            </a:r>
            <a:endParaRPr lang="en-US" sz="1300" dirty="0"/>
          </a:p>
          <a:p>
            <a:pPr algn="l" marL="264160" indent="-264160">
              <a:lnSpc>
                <a:spcPct val="103000"/>
              </a:lnSpc>
              <a:buSzPct val="100000"/>
              <a:buChar char="•"/>
            </a:pPr>
            <a:r>
              <a:rPr lang="en-US" sz="13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stock_quantity</a:t>
            </a:r>
            <a:pPr algn="l" marL="264160" indent="-264160">
              <a:lnSpc>
                <a:spcPct val="103000"/>
              </a:lnSpc>
              <a:buSzPct val="100000"/>
              <a:buChar char="•"/>
            </a:pP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: Current number of items in stock</a:t>
            </a:r>
            <a:endParaRPr lang="en-US" sz="1300" dirty="0"/>
          </a:p>
          <a:p>
            <a:pPr algn="l" marL="264160" indent="-264160">
              <a:lnSpc>
                <a:spcPct val="103000"/>
              </a:lnSpc>
              <a:buSzPct val="100000"/>
              <a:buChar char="•"/>
            </a:pPr>
            <a:r>
              <a:rPr lang="en-US" sz="13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stock_health_status</a:t>
            </a:r>
            <a:pPr algn="l" marL="264160" indent="-264160">
              <a:lnSpc>
                <a:spcPct val="103000"/>
              </a:lnSpc>
              <a:buSzPct val="100000"/>
              <a:buChar char="•"/>
            </a:pP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: Status like 'Healthy', 'Low', 'Out of Stock'</a:t>
            </a:r>
            <a:endParaRPr lang="en-US" sz="1300" dirty="0"/>
          </a:p>
          <a:p>
            <a:pPr algn="l" marL="264160" indent="-264160">
              <a:lnSpc>
                <a:spcPct val="103000"/>
              </a:lnSpc>
              <a:buSzPct val="100000"/>
              <a:buChar char="•"/>
            </a:pPr>
            <a:r>
              <a:rPr lang="en-US" sz="13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total_inventory_valuation</a:t>
            </a:r>
            <a:pPr algn="l" marL="264160" indent="-264160">
              <a:lnSpc>
                <a:spcPct val="103000"/>
              </a:lnSpc>
              <a:buSzPct val="100000"/>
              <a:buChar char="•"/>
            </a:pP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: Total value of current stock for this product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311147" y="1850033"/>
            <a:ext cx="5225423" cy="2783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650" b="1" spc="-34" kern="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Fact_Purchases Table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6311147" y="2283520"/>
            <a:ext cx="5225423" cy="28772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64160" indent="-264160">
              <a:lnSpc>
                <a:spcPct val="103000"/>
              </a:lnSpc>
              <a:buSzPct val="100000"/>
              <a:buChar char="•"/>
            </a:pPr>
            <a:r>
              <a:rPr lang="en-US" sz="13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purchase_id</a:t>
            </a:r>
            <a:pPr algn="l" marL="264160" indent="-264160">
              <a:lnSpc>
                <a:spcPct val="103000"/>
              </a:lnSpc>
              <a:buSzPct val="100000"/>
              <a:buChar char="•"/>
            </a:pP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: Unique identifier for each purchase transaction</a:t>
            </a:r>
            <a:endParaRPr lang="en-US" sz="1300" dirty="0"/>
          </a:p>
          <a:p>
            <a:pPr algn="l" marL="264160" indent="-264160">
              <a:lnSpc>
                <a:spcPct val="103000"/>
              </a:lnSpc>
              <a:buSzPct val="100000"/>
              <a:buChar char="•"/>
            </a:pPr>
            <a:r>
              <a:rPr lang="en-US" sz="13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order_id</a:t>
            </a:r>
            <a:pPr algn="l" marL="264160" indent="-264160">
              <a:lnSpc>
                <a:spcPct val="103000"/>
              </a:lnSpc>
              <a:buSzPct val="100000"/>
              <a:buChar char="•"/>
            </a:pP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: Identifier for the overall customer order</a:t>
            </a:r>
            <a:endParaRPr lang="en-US" sz="1300" dirty="0"/>
          </a:p>
          <a:p>
            <a:pPr algn="l" marL="264160" indent="-264160">
              <a:lnSpc>
                <a:spcPct val="103000"/>
              </a:lnSpc>
              <a:buSzPct val="100000"/>
              <a:buChar char="•"/>
            </a:pPr>
            <a:r>
              <a:rPr lang="en-US" sz="13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product_id</a:t>
            </a:r>
            <a:pPr algn="l" marL="264160" indent="-264160">
              <a:lnSpc>
                <a:spcPct val="103000"/>
              </a:lnSpc>
              <a:buSzPct val="100000"/>
              <a:buChar char="•"/>
            </a:pP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: Foreign key linking to Dim_Product</a:t>
            </a:r>
            <a:endParaRPr lang="en-US" sz="1300" dirty="0"/>
          </a:p>
          <a:p>
            <a:pPr algn="l" marL="264160" indent="-264160">
              <a:lnSpc>
                <a:spcPct val="103000"/>
              </a:lnSpc>
              <a:buSzPct val="100000"/>
              <a:buChar char="•"/>
            </a:pPr>
            <a:r>
              <a:rPr lang="en-US" sz="13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user_id</a:t>
            </a:r>
            <a:pPr algn="l" marL="264160" indent="-264160">
              <a:lnSpc>
                <a:spcPct val="103000"/>
              </a:lnSpc>
              <a:buSzPct val="100000"/>
              <a:buChar char="•"/>
            </a:pP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: Identifier for the purchasing customer</a:t>
            </a:r>
            <a:endParaRPr lang="en-US" sz="1300" dirty="0"/>
          </a:p>
          <a:p>
            <a:pPr algn="l" marL="264160" indent="-264160">
              <a:lnSpc>
                <a:spcPct val="103000"/>
              </a:lnSpc>
              <a:buSzPct val="100000"/>
              <a:buChar char="•"/>
            </a:pPr>
            <a:r>
              <a:rPr lang="en-US" sz="13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order_date</a:t>
            </a:r>
            <a:pPr algn="l" marL="264160" indent="-264160">
              <a:lnSpc>
                <a:spcPct val="103000"/>
              </a:lnSpc>
              <a:buSzPct val="100000"/>
              <a:buChar char="•"/>
            </a:pP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: Date of the purchase</a:t>
            </a:r>
            <a:endParaRPr lang="en-US" sz="1300" dirty="0"/>
          </a:p>
          <a:p>
            <a:pPr algn="l" marL="264160" indent="-264160">
              <a:lnSpc>
                <a:spcPct val="103000"/>
              </a:lnSpc>
              <a:buSzPct val="100000"/>
              <a:buChar char="•"/>
            </a:pPr>
            <a:r>
              <a:rPr lang="en-US" sz="13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order_day</a:t>
            </a:r>
            <a:pPr algn="l" marL="264160" indent="-264160">
              <a:lnSpc>
                <a:spcPct val="103000"/>
              </a:lnSpc>
              <a:buSzPct val="100000"/>
              <a:buChar char="•"/>
            </a:pP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: Day of the month of the purchase</a:t>
            </a:r>
            <a:endParaRPr lang="en-US" sz="1300" dirty="0"/>
          </a:p>
          <a:p>
            <a:pPr algn="l" marL="264160" indent="-264160">
              <a:lnSpc>
                <a:spcPct val="103000"/>
              </a:lnSpc>
              <a:buSzPct val="100000"/>
              <a:buChar char="•"/>
            </a:pPr>
            <a:r>
              <a:rPr lang="en-US" sz="13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order_month</a:t>
            </a:r>
            <a:pPr algn="l" marL="264160" indent="-264160">
              <a:lnSpc>
                <a:spcPct val="103000"/>
              </a:lnSpc>
              <a:buSzPct val="100000"/>
              <a:buChar char="•"/>
            </a:pP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: Month of the purchase</a:t>
            </a:r>
            <a:endParaRPr lang="en-US" sz="1300" dirty="0"/>
          </a:p>
          <a:p>
            <a:pPr algn="l" marL="264160" indent="-264160">
              <a:lnSpc>
                <a:spcPct val="103000"/>
              </a:lnSpc>
              <a:buSzPct val="100000"/>
              <a:buChar char="•"/>
            </a:pPr>
            <a:r>
              <a:rPr lang="en-US" sz="13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day_of_week</a:t>
            </a:r>
            <a:pPr algn="l" marL="264160" indent="-264160">
              <a:lnSpc>
                <a:spcPct val="103000"/>
              </a:lnSpc>
              <a:buSzPct val="100000"/>
              <a:buChar char="•"/>
            </a:pP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: Day of the week of the purchase</a:t>
            </a:r>
            <a:endParaRPr lang="en-US" sz="1300" dirty="0"/>
          </a:p>
          <a:p>
            <a:pPr algn="l" marL="264160" indent="-264160">
              <a:lnSpc>
                <a:spcPct val="103000"/>
              </a:lnSpc>
              <a:buSzPct val="100000"/>
              <a:buChar char="•"/>
            </a:pPr>
            <a:r>
              <a:rPr lang="en-US" sz="13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quantity</a:t>
            </a:r>
            <a:pPr algn="l" marL="264160" indent="-264160">
              <a:lnSpc>
                <a:spcPct val="103000"/>
              </a:lnSpc>
              <a:buSzPct val="100000"/>
              <a:buChar char="•"/>
            </a:pP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: Number of units purchased in this transaction</a:t>
            </a:r>
            <a:endParaRPr lang="en-US" sz="1300" dirty="0"/>
          </a:p>
          <a:p>
            <a:pPr algn="l" marL="264160" indent="-264160">
              <a:lnSpc>
                <a:spcPct val="103000"/>
              </a:lnSpc>
              <a:buSzPct val="100000"/>
              <a:buChar char="•"/>
            </a:pPr>
            <a:r>
              <a:rPr lang="en-US" sz="13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unit_price</a:t>
            </a:r>
            <a:pPr algn="l" marL="264160" indent="-264160">
              <a:lnSpc>
                <a:spcPct val="103000"/>
              </a:lnSpc>
              <a:buSzPct val="100000"/>
              <a:buChar char="•"/>
            </a:pP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: Price per unit at the time of purchase</a:t>
            </a:r>
            <a:endParaRPr lang="en-US" sz="1300" dirty="0"/>
          </a:p>
          <a:p>
            <a:pPr algn="l" marL="264160" indent="-264160">
              <a:lnSpc>
                <a:spcPct val="103000"/>
              </a:lnSpc>
              <a:buSzPct val="100000"/>
              <a:buChar char="•"/>
            </a:pPr>
            <a:r>
              <a:rPr lang="en-US" sz="13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total_amount</a:t>
            </a:r>
            <a:pPr algn="l" marL="264160" indent="-264160">
              <a:lnSpc>
                <a:spcPct val="103000"/>
              </a:lnSpc>
              <a:buSzPct val="100000"/>
              <a:buChar char="•"/>
            </a:pP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: Total amount for this specific transaction item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56682" y="6080621"/>
            <a:ext cx="11478330" cy="2122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These tables form the backbone of the inventory system, tracking product details and all purchase events.</a:t>
            </a:r>
            <a:endParaRPr lang="en-US" sz="1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98686"/>
            <a:ext cx="10868745" cy="614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3700" b="1" spc="-74" kern="0" dirty="0">
                <a:solidFill>
                  <a:srgbClr val="00D4FF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KEY SQL QUERIES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1288554"/>
            <a:ext cx="10868745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850" b="1" spc="-37" kern="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POWERING YOUR INVENTORY ANALYSIS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661475" y="2068116"/>
            <a:ext cx="3277709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850" b="1" spc="-37" kern="0" dirty="0">
                <a:solidFill>
                  <a:srgbClr val="00D4FF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1. Identify Low-Stock Items</a:t>
            </a:r>
            <a:endParaRPr lang="en-US" sz="1850" dirty="0"/>
          </a:p>
        </p:txBody>
      </p:sp>
      <p:sp>
        <p:nvSpPr>
          <p:cNvPr id="5" name="Shape 3"/>
          <p:cNvSpPr/>
          <p:nvPr/>
        </p:nvSpPr>
        <p:spPr>
          <a:xfrm>
            <a:off x="661475" y="2587823"/>
            <a:ext cx="3277709" cy="1890117"/>
          </a:xfrm>
          <a:prstGeom prst="roundRect">
            <a:avLst>
              <a:gd name="adj" fmla="val 4200"/>
            </a:avLst>
          </a:prstGeom>
          <a:solidFill>
            <a:srgbClr val="1D232D"/>
          </a:solidFill>
          <a:ln/>
        </p:spPr>
      </p:sp>
      <p:sp>
        <p:nvSpPr>
          <p:cNvPr id="6" name="Text 4"/>
          <p:cNvSpPr/>
          <p:nvPr/>
        </p:nvSpPr>
        <p:spPr>
          <a:xfrm>
            <a:off x="888283" y="2776835"/>
            <a:ext cx="2824092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product_name, stock_quantity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Dim_Product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stock_quantity &lt; 50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stock_quantity;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661475" y="4690566"/>
            <a:ext cx="3277709" cy="491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Finds products needing restocking to prevent shortages.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4406691" y="2068116"/>
            <a:ext cx="3390914" cy="6141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850" b="1" spc="-37" kern="0" dirty="0">
                <a:solidFill>
                  <a:srgbClr val="EF4444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2. Calculate Total Inventory Value</a:t>
            </a:r>
            <a:endParaRPr lang="en-US" sz="1850" dirty="0"/>
          </a:p>
        </p:txBody>
      </p:sp>
      <p:sp>
        <p:nvSpPr>
          <p:cNvPr id="9" name="Shape 7"/>
          <p:cNvSpPr/>
          <p:nvPr/>
        </p:nvSpPr>
        <p:spPr>
          <a:xfrm>
            <a:off x="4406691" y="2894905"/>
            <a:ext cx="3390914" cy="1285280"/>
          </a:xfrm>
          <a:prstGeom prst="roundRect">
            <a:avLst>
              <a:gd name="adj" fmla="val 6177"/>
            </a:avLst>
          </a:prstGeom>
          <a:solidFill>
            <a:srgbClr val="1D232D"/>
          </a:solidFill>
          <a:ln/>
        </p:spPr>
      </p:sp>
      <p:sp>
        <p:nvSpPr>
          <p:cNvPr id="10" name="Text 8"/>
          <p:cNvSpPr/>
          <p:nvPr/>
        </p:nvSpPr>
        <p:spPr>
          <a:xfrm>
            <a:off x="4633499" y="3083917"/>
            <a:ext cx="2937298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SUM(stock_quantity * price) AS total_inventory_value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Dim_Product;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406691" y="4392811"/>
            <a:ext cx="3390914" cy="491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Determines the monetary value of all current stock.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8265112" y="2068116"/>
            <a:ext cx="3277709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850" b="1" spc="-37" kern="0" dirty="0">
                <a:solidFill>
                  <a:srgbClr val="00D4FF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3. Find Best-Selling Products</a:t>
            </a:r>
            <a:endParaRPr lang="en-US" sz="1850" dirty="0"/>
          </a:p>
        </p:txBody>
      </p:sp>
      <p:sp>
        <p:nvSpPr>
          <p:cNvPr id="13" name="Shape 11"/>
          <p:cNvSpPr/>
          <p:nvPr/>
        </p:nvSpPr>
        <p:spPr>
          <a:xfrm>
            <a:off x="8265112" y="2587823"/>
            <a:ext cx="3277709" cy="2797373"/>
          </a:xfrm>
          <a:prstGeom prst="roundRect">
            <a:avLst>
              <a:gd name="adj" fmla="val 2838"/>
            </a:avLst>
          </a:prstGeom>
          <a:solidFill>
            <a:srgbClr val="1D232D"/>
          </a:solidFill>
          <a:ln/>
        </p:spPr>
      </p:sp>
      <p:sp>
        <p:nvSpPr>
          <p:cNvPr id="14" name="Text 12"/>
          <p:cNvSpPr/>
          <p:nvPr/>
        </p:nvSpPr>
        <p:spPr>
          <a:xfrm>
            <a:off x="8491920" y="2776835"/>
            <a:ext cx="2824092" cy="2419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dp.product_name, SUM(fp.quantity) AS units_sold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Fact_Purchases fp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Dim_Product dp ON fp.product_id = dp.product_id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dp.product_name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units_sold DESC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LIMIT 5;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8265112" y="5597823"/>
            <a:ext cx="3277709" cy="491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Identifies the top 5 products by quantity sold for strategic planning.</a:t>
            </a:r>
            <a:endParaRPr lang="en-US" sz="14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751707"/>
            <a:ext cx="10868745" cy="614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3700" b="1" spc="-74" kern="0" dirty="0">
                <a:solidFill>
                  <a:srgbClr val="00D4FF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HOW INVENTORY MANAGEMENT WORKS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441575"/>
            <a:ext cx="10868745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850" b="1" spc="-37" kern="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Turning Raw Data Into Meaningful Insights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661475" y="3032125"/>
            <a:ext cx="10868745" cy="1162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8000"/>
              </a:lnSpc>
              <a:spcAft>
                <a:spcPts val="1650"/>
              </a:spcAft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"100 units received → 100 in stock"</a:t>
            </a:r>
            <a:endParaRPr lang="en-US" sz="1450" dirty="0"/>
          </a:p>
          <a:p>
            <a:pPr algn="ctr" indent="0" marL="0">
              <a:lnSpc>
                <a:spcPct val="108000"/>
              </a:lnSpc>
              <a:spcAft>
                <a:spcPts val="1650"/>
              </a:spcAft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"20 units sold → 80 in stock"</a:t>
            </a:r>
            <a:endParaRPr lang="en-US" sz="1450" dirty="0"/>
          </a:p>
          <a:p>
            <a:pPr algn="ctr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"Stock reaches minimum level → Restock required"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61475" y="4406999"/>
            <a:ext cx="10868745" cy="699195"/>
          </a:xfrm>
          <a:prstGeom prst="roundRect">
            <a:avLst>
              <a:gd name="adj" fmla="val 11354"/>
            </a:avLst>
          </a:prstGeom>
          <a:solidFill>
            <a:srgbClr val="002A8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482" y="4649291"/>
            <a:ext cx="236234" cy="1890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75723" y="4643239"/>
            <a:ext cx="10675075" cy="245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The system keeps stock information updated as inventory changes.</a:t>
            </a:r>
            <a:endParaRPr lang="en-US" sz="14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30423"/>
            <a:ext cx="10868745" cy="5566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3350" b="1" spc="-67" kern="0" dirty="0">
                <a:solidFill>
                  <a:srgbClr val="00D4FF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WHY INVENTORY MANAGEMENT MATTERS</a:t>
            </a:r>
            <a:endParaRPr lang="en-US" sz="33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1319808"/>
            <a:ext cx="428217" cy="42822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3660" y="1319808"/>
            <a:ext cx="2871418" cy="2783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50" b="1" spc="-34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AVOID STOCKOUTS</a:t>
            </a:r>
            <a:endParaRPr lang="en-US" sz="1650" dirty="0"/>
          </a:p>
        </p:txBody>
      </p:sp>
      <p:sp>
        <p:nvSpPr>
          <p:cNvPr id="5" name="Text 2"/>
          <p:cNvSpPr/>
          <p:nvPr/>
        </p:nvSpPr>
        <p:spPr>
          <a:xfrm>
            <a:off x="1283660" y="1691184"/>
            <a:ext cx="2871418" cy="4244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Know when products are running low.</a:t>
            </a:r>
            <a:endParaRPr lang="en-US" sz="13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49046" y="1319808"/>
            <a:ext cx="428217" cy="42822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971231" y="1319808"/>
            <a:ext cx="2871418" cy="2783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50" b="1" spc="-34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REDUCE COSTS</a:t>
            </a:r>
            <a:endParaRPr lang="en-US" sz="1650" dirty="0"/>
          </a:p>
        </p:txBody>
      </p:sp>
      <p:sp>
        <p:nvSpPr>
          <p:cNvPr id="8" name="Text 4"/>
          <p:cNvSpPr/>
          <p:nvPr/>
        </p:nvSpPr>
        <p:spPr>
          <a:xfrm>
            <a:off x="4971231" y="1691184"/>
            <a:ext cx="2871418" cy="2122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Avoid keeping unnecessary stock.</a:t>
            </a:r>
            <a:endParaRPr lang="en-US" sz="13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036617" y="1319808"/>
            <a:ext cx="428217" cy="42822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658802" y="1319808"/>
            <a:ext cx="2871418" cy="2783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50" b="1" spc="-34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IMPROVE ACCURACY</a:t>
            </a:r>
            <a:endParaRPr lang="en-US" sz="1650" dirty="0"/>
          </a:p>
        </p:txBody>
      </p:sp>
      <p:sp>
        <p:nvSpPr>
          <p:cNvPr id="11" name="Text 6"/>
          <p:cNvSpPr/>
          <p:nvPr/>
        </p:nvSpPr>
        <p:spPr>
          <a:xfrm>
            <a:off x="8658802" y="1691184"/>
            <a:ext cx="2871418" cy="2122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Keep product quantities organized.</a:t>
            </a:r>
            <a:endParaRPr lang="en-US" sz="13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1475" y="2426097"/>
            <a:ext cx="428217" cy="42822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283660" y="2426097"/>
            <a:ext cx="2871418" cy="2783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50" b="1" spc="-34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SAVE TIME</a:t>
            </a:r>
            <a:endParaRPr lang="en-US" sz="1650" dirty="0"/>
          </a:p>
        </p:txBody>
      </p:sp>
      <p:sp>
        <p:nvSpPr>
          <p:cNvPr id="14" name="Text 8"/>
          <p:cNvSpPr/>
          <p:nvPr/>
        </p:nvSpPr>
        <p:spPr>
          <a:xfrm>
            <a:off x="1283660" y="2797473"/>
            <a:ext cx="2871418" cy="2122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Find inventory information quickly.</a:t>
            </a:r>
            <a:endParaRPr lang="en-US" sz="130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349046" y="2426097"/>
            <a:ext cx="428217" cy="428228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4971231" y="2426097"/>
            <a:ext cx="2871418" cy="5566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50" b="1" spc="-34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SUPPORT BETTER DECISIONS</a:t>
            </a:r>
            <a:endParaRPr lang="en-US" sz="1650" dirty="0"/>
          </a:p>
        </p:txBody>
      </p:sp>
      <p:sp>
        <p:nvSpPr>
          <p:cNvPr id="17" name="Text 10"/>
          <p:cNvSpPr/>
          <p:nvPr/>
        </p:nvSpPr>
        <p:spPr>
          <a:xfrm>
            <a:off x="4971231" y="3075781"/>
            <a:ext cx="2871418" cy="4244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Use accurate stock information for planning.</a:t>
            </a:r>
            <a:endParaRPr lang="en-US" sz="1300" dirty="0"/>
          </a:p>
        </p:txBody>
      </p:sp>
      <p:sp>
        <p:nvSpPr>
          <p:cNvPr id="18" name="Text 11"/>
          <p:cNvSpPr/>
          <p:nvPr/>
        </p:nvSpPr>
        <p:spPr>
          <a:xfrm>
            <a:off x="661475" y="3733006"/>
            <a:ext cx="10868745" cy="7681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4650" b="1" spc="-93" kern="0" dirty="0">
                <a:solidFill>
                  <a:srgbClr val="00FF88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CONTROL THE STOCK.</a:t>
            </a:r>
            <a:endParaRPr lang="en-US" sz="4650" dirty="0"/>
          </a:p>
        </p:txBody>
      </p:sp>
      <p:sp>
        <p:nvSpPr>
          <p:cNvPr id="19" name="Text 12"/>
          <p:cNvSpPr/>
          <p:nvPr/>
        </p:nvSpPr>
        <p:spPr>
          <a:xfrm>
            <a:off x="661475" y="4733925"/>
            <a:ext cx="10868745" cy="7681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4650" b="1" spc="-93" kern="0" dirty="0">
                <a:solidFill>
                  <a:srgbClr val="00D4FF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POWER THE BUSINESS.</a:t>
            </a:r>
            <a:endParaRPr lang="en-US" sz="4650" dirty="0"/>
          </a:p>
        </p:txBody>
      </p:sp>
      <p:sp>
        <p:nvSpPr>
          <p:cNvPr id="20" name="Shape 13"/>
          <p:cNvSpPr/>
          <p:nvPr/>
        </p:nvSpPr>
        <p:spPr>
          <a:xfrm>
            <a:off x="661475" y="5734844"/>
            <a:ext cx="10868745" cy="592634"/>
          </a:xfrm>
          <a:prstGeom prst="roundRect">
            <a:avLst>
              <a:gd name="adj" fmla="val 12140"/>
            </a:avLst>
          </a:prstGeom>
          <a:solidFill>
            <a:srgbClr val="002A80"/>
          </a:solidFill>
          <a:ln/>
        </p:spPr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32722" y="5935266"/>
            <a:ext cx="214109" cy="171252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1218078" y="5932785"/>
            <a:ext cx="10750479" cy="2122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Inventory management is essential for business success.</a:t>
            </a:r>
            <a:endParaRPr lang="en-US" sz="13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2334915"/>
            <a:ext cx="10868745" cy="8604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5100" b="1" spc="-103" kern="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⚡</a:t>
            </a:r>
            <a:pPr algn="ctr" indent="0" marL="0">
              <a:lnSpc>
                <a:spcPct val="108000"/>
              </a:lnSpc>
              <a:buNone/>
            </a:pPr>
            <a:r>
              <a:rPr lang="en-US" sz="5100" b="1" spc="-103" kern="0" dirty="0">
                <a:solidFill>
                  <a:srgbClr val="00D4FF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 QUIZ TIME </a:t>
            </a:r>
            <a:pPr algn="ctr" indent="0" marL="0">
              <a:lnSpc>
                <a:spcPct val="108000"/>
              </a:lnSpc>
              <a:buNone/>
            </a:pPr>
            <a:r>
              <a:rPr lang="en-US" sz="5100" b="1" spc="-103" kern="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⚡</a:t>
            </a:r>
            <a:endParaRPr lang="en-US" sz="5100" dirty="0"/>
          </a:p>
        </p:txBody>
      </p:sp>
      <p:sp>
        <p:nvSpPr>
          <p:cNvPr id="3" name="Text 1"/>
          <p:cNvSpPr/>
          <p:nvPr/>
        </p:nvSpPr>
        <p:spPr>
          <a:xfrm>
            <a:off x="661475" y="3573363"/>
            <a:ext cx="10868745" cy="9496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TEST YOUR KNOWLEDGE</a:t>
            </a:r>
            <a:endParaRPr lang="en-US" sz="1450" dirty="0"/>
          </a:p>
          <a:p>
            <a:pPr algn="ctr" indent="0" marL="0">
              <a:lnSpc>
                <a:spcPct val="108000"/>
              </a:lnSpc>
              <a:spcAft>
                <a:spcPts val="1650"/>
              </a:spcAft>
              <a:buNone/>
            </a:pPr>
            <a:r>
              <a:rPr lang="en-US" sz="145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Can you decode the data like a true DATAVENGER?</a:t>
            </a:r>
            <a:endParaRPr lang="en-US" sz="1450" dirty="0"/>
          </a:p>
          <a:p>
            <a:pPr algn="ctr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7 Questions • 7 Challenges • 1 Mission</a:t>
            </a:r>
            <a:endParaRPr lang="en-US" sz="14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494830"/>
            <a:ext cx="10868745" cy="6206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3700" b="1" spc="-74" kern="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🧠</a:t>
            </a:r>
            <a:pPr algn="ctr" indent="0" marL="0">
              <a:lnSpc>
                <a:spcPct val="108000"/>
              </a:lnSpc>
              <a:buNone/>
            </a:pPr>
            <a:r>
              <a:rPr lang="en-US" sz="3700" b="1" spc="-74" kern="0" dirty="0">
                <a:solidFill>
                  <a:srgbClr val="00D4FF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 QUESTION 1 </a:t>
            </a:r>
            <a:pPr algn="ctr" indent="0" marL="0">
              <a:lnSpc>
                <a:spcPct val="108000"/>
              </a:lnSpc>
              <a:buNone/>
            </a:pPr>
            <a:r>
              <a:rPr lang="en-US" sz="3700" b="1" spc="-74" kern="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🧠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356682" y="2493466"/>
            <a:ext cx="11478330" cy="245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00D4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Which SQL clause is used to filter aggregated data, such as finding treatments where the patient count exceeds 100?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61475" y="2998986"/>
            <a:ext cx="10868745" cy="25400"/>
          </a:xfrm>
          <a:prstGeom prst="roundRect">
            <a:avLst>
              <a:gd name="adj" fmla="val 49999"/>
            </a:avLst>
          </a:prstGeom>
          <a:solidFill>
            <a:srgbClr val="EBEDF0">
              <a:alpha val="5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61475" y="3284240"/>
            <a:ext cx="10868745" cy="20788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8000"/>
              </a:lnSpc>
              <a:spcAft>
                <a:spcPts val="1650"/>
              </a:spcAft>
              <a:buNone/>
            </a:pPr>
            <a:r>
              <a:rPr lang="en-US" sz="145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A) WHERE</a:t>
            </a:r>
            <a:endParaRPr lang="en-US" sz="1450" dirty="0"/>
          </a:p>
          <a:p>
            <a:pPr algn="ctr" indent="0" marL="0">
              <a:lnSpc>
                <a:spcPct val="108000"/>
              </a:lnSpc>
              <a:spcAft>
                <a:spcPts val="1650"/>
              </a:spcAft>
              <a:buNone/>
            </a:pPr>
            <a:r>
              <a:rPr lang="en-US" sz="145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B) HAVING</a:t>
            </a:r>
            <a:endParaRPr lang="en-US" sz="1450" dirty="0"/>
          </a:p>
          <a:p>
            <a:pPr algn="ctr" indent="0" marL="0">
              <a:lnSpc>
                <a:spcPct val="108000"/>
              </a:lnSpc>
              <a:spcAft>
                <a:spcPts val="1650"/>
              </a:spcAft>
              <a:buNone/>
            </a:pPr>
            <a:r>
              <a:rPr lang="en-US" sz="145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C) ORDER BY</a:t>
            </a:r>
            <a:endParaRPr lang="en-US" sz="1450" dirty="0"/>
          </a:p>
          <a:p>
            <a:pPr algn="ctr" indent="0" marL="0">
              <a:lnSpc>
                <a:spcPct val="108000"/>
              </a:lnSpc>
              <a:spcAft>
                <a:spcPts val="1650"/>
              </a:spcAft>
              <a:buNone/>
            </a:pPr>
            <a:r>
              <a:rPr lang="en-US" sz="145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D) GROUP BY</a:t>
            </a:r>
            <a:endParaRPr lang="en-US" sz="1450" dirty="0"/>
          </a:p>
          <a:p>
            <a:pPr algn="ctr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00D4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Think you know? Let's find out! </a:t>
            </a:r>
            <a:pPr algn="ctr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🎯</a:t>
            </a:r>
            <a:endParaRPr lang="en-US" sz="14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626394"/>
            <a:ext cx="10868745" cy="614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3700" b="1" spc="-74" kern="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Answer: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524125"/>
            <a:ext cx="10868745" cy="12286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7400" b="1" spc="-149" kern="0" dirty="0">
                <a:solidFill>
                  <a:srgbClr val="00D4FF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B) HAVING</a:t>
            </a:r>
            <a:endParaRPr lang="en-US" sz="7400" dirty="0"/>
          </a:p>
        </p:txBody>
      </p:sp>
      <p:sp>
        <p:nvSpPr>
          <p:cNvPr id="4" name="Text 2"/>
          <p:cNvSpPr/>
          <p:nvPr/>
        </p:nvSpPr>
        <p:spPr>
          <a:xfrm>
            <a:off x="661475" y="4036219"/>
            <a:ext cx="10868745" cy="11952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spcAft>
                <a:spcPts val="1650"/>
              </a:spcAft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The WHERE clause filters individual rows before aggregation occurs, whereas the HAVING clause is specifically designed to filter groups after an aggregate function (like COUNT(*) &gt; 100) has been applied.</a:t>
            </a:r>
            <a:endParaRPr lang="en-US" sz="14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Use WHERE for row-level filtering.</a:t>
            </a:r>
            <a:endParaRPr lang="en-US" sz="14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Use HAVING for group-level filtering after aggregation.</a:t>
            </a:r>
            <a:endParaRPr lang="en-US" sz="14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708348"/>
            <a:ext cx="10868745" cy="6206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3700" b="1" spc="-74" kern="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🔗</a:t>
            </a:r>
            <a:pPr algn="ctr" indent="0" marL="0">
              <a:lnSpc>
                <a:spcPct val="108000"/>
              </a:lnSpc>
              <a:buNone/>
            </a:pPr>
            <a:r>
              <a:rPr lang="en-US" sz="3700" b="1" spc="-74" kern="0" dirty="0">
                <a:solidFill>
                  <a:srgbClr val="00D4FF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 QUESTION 2 </a:t>
            </a:r>
            <a:pPr algn="ctr" indent="0" marL="0">
              <a:lnSpc>
                <a:spcPct val="108000"/>
              </a:lnSpc>
              <a:buNone/>
            </a:pPr>
            <a:r>
              <a:rPr lang="en-US" sz="3700" b="1" spc="-74" kern="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🔗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356682" y="2612430"/>
            <a:ext cx="11478330" cy="245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00D4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What is the primary benefit of using Common Table Expressions (CTEs) in complex SQL workflows?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661475" y="3070721"/>
            <a:ext cx="10868745" cy="1620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spcAft>
                <a:spcPts val="1650"/>
              </a:spcAft>
              <a:buNone/>
            </a:pPr>
            <a:r>
              <a:rPr lang="en-US" sz="145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A) They automatically encrypt table data</a:t>
            </a:r>
            <a:endParaRPr lang="en-US" sz="1450" dirty="0"/>
          </a:p>
          <a:p>
            <a:pPr algn="l" indent="0" marL="0">
              <a:lnSpc>
                <a:spcPct val="108000"/>
              </a:lnSpc>
              <a:spcAft>
                <a:spcPts val="1650"/>
              </a:spcAft>
              <a:buNone/>
            </a:pPr>
            <a:r>
              <a:rPr lang="en-US" sz="145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B) They replace the need for primary keys</a:t>
            </a:r>
            <a:endParaRPr lang="en-US" sz="1450" dirty="0"/>
          </a:p>
          <a:p>
            <a:pPr algn="l" indent="0" marL="0">
              <a:lnSpc>
                <a:spcPct val="108000"/>
              </a:lnSpc>
              <a:spcAft>
                <a:spcPts val="1650"/>
              </a:spcAft>
              <a:buNone/>
            </a:pPr>
            <a:r>
              <a:rPr lang="en-US" sz="145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C) They break large queries into smaller, easier-to-read steps</a:t>
            </a:r>
            <a:endParaRPr lang="en-US" sz="14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D) They prevent duplicate rows from being inserted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356682" y="4903887"/>
            <a:ext cx="11478330" cy="245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00D4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Can you spot the winner? </a:t>
            </a:r>
            <a:pPr algn="ctr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🏆</a:t>
            </a:r>
            <a:endParaRPr lang="en-US" sz="14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2380059"/>
            <a:ext cx="10868745" cy="12285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3700" b="1" spc="-74" kern="0" dirty="0">
                <a:solidFill>
                  <a:srgbClr val="00D4FF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Answer: C) CTEs Break Queries Into Smaller Steps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3986609"/>
            <a:ext cx="10868745" cy="491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CTEs (defined using WITH ... AS) allow developers to structure complex logic into named, modular sub-queries, making nested queries much easier to read, maintain, and debug.</a:t>
            </a:r>
            <a:endParaRPr lang="en-US" sz="14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661120"/>
            <a:ext cx="10868745" cy="6206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3700" b="1" spc="-74" kern="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📦</a:t>
            </a:r>
            <a:pPr algn="ctr" indent="0" marL="0">
              <a:lnSpc>
                <a:spcPct val="108000"/>
              </a:lnSpc>
              <a:buNone/>
            </a:pPr>
            <a:r>
              <a:rPr lang="en-US" sz="3700" b="1" spc="-74" kern="0" dirty="0">
                <a:solidFill>
                  <a:srgbClr val="00D4FF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 QUESTION 3 </a:t>
            </a:r>
            <a:pPr algn="ctr" indent="0" marL="0">
              <a:lnSpc>
                <a:spcPct val="108000"/>
              </a:lnSpc>
              <a:buNone/>
            </a:pPr>
            <a:r>
              <a:rPr lang="en-US" sz="3700" b="1" spc="-74" kern="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📦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659757"/>
            <a:ext cx="10868745" cy="20788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spcAft>
                <a:spcPts val="1650"/>
              </a:spcAft>
              <a:buNone/>
            </a:pPr>
            <a:r>
              <a:rPr lang="en-US" sz="1450" dirty="0">
                <a:solidFill>
                  <a:srgbClr val="00D4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How does an Inventory Management System primarily help a business reduce unnecessary holding costs?</a:t>
            </a:r>
            <a:endParaRPr lang="en-US" sz="1450" dirty="0"/>
          </a:p>
          <a:p>
            <a:pPr algn="l" indent="0" marL="0">
              <a:lnSpc>
                <a:spcPct val="108000"/>
              </a:lnSpc>
              <a:spcAft>
                <a:spcPts val="1650"/>
              </a:spcAft>
              <a:buNone/>
            </a:pPr>
            <a:r>
              <a:rPr lang="en-US" sz="145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A) By deleting older sales records automatically</a:t>
            </a:r>
            <a:endParaRPr lang="en-US" sz="1450" dirty="0"/>
          </a:p>
          <a:p>
            <a:pPr algn="l" indent="0" marL="0">
              <a:lnSpc>
                <a:spcPct val="108000"/>
              </a:lnSpc>
              <a:spcAft>
                <a:spcPts val="1650"/>
              </a:spcAft>
              <a:buNone/>
            </a:pPr>
            <a:r>
              <a:rPr lang="en-US" sz="145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B) By avoiding overstocking and keeping track of required stock levels</a:t>
            </a:r>
            <a:endParaRPr lang="en-US" sz="1450" dirty="0"/>
          </a:p>
          <a:p>
            <a:pPr algn="l" indent="0" marL="0">
              <a:lnSpc>
                <a:spcPct val="108000"/>
              </a:lnSpc>
              <a:spcAft>
                <a:spcPts val="1650"/>
              </a:spcAft>
              <a:buNone/>
            </a:pPr>
            <a:r>
              <a:rPr lang="en-US" sz="145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C) By eliminating the need for supplier invoices</a:t>
            </a:r>
            <a:endParaRPr lang="en-US" sz="14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D) By restricting customer access to product catalogs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356682" y="4951214"/>
            <a:ext cx="11478330" cy="245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00D4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Which one saves the money? </a:t>
            </a:r>
            <a:pPr algn="ctr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💵</a:t>
            </a:r>
            <a:endParaRPr lang="en-US" sz="14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2380059"/>
            <a:ext cx="10868745" cy="12285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3700" b="1" spc="-74" kern="0" dirty="0">
                <a:solidFill>
                  <a:srgbClr val="00D4FF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Answer: B) Avoiding Overstocking &amp; Tracking Stock Levels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3986609"/>
            <a:ext cx="10868745" cy="491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An inventory management system tracks product movements, stock depletion, and minimum thresholds in real-time, preventing the business from tying up capital in excessive, unsold stock.</a:t>
            </a:r>
            <a:endParaRPr lang="en-US" sz="14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538288"/>
            <a:ext cx="10868745" cy="6206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3700" b="1" spc="-74" kern="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🏗️</a:t>
            </a:r>
            <a:pPr algn="ctr" indent="0" marL="0">
              <a:lnSpc>
                <a:spcPct val="108000"/>
              </a:lnSpc>
              <a:buNone/>
            </a:pPr>
            <a:r>
              <a:rPr lang="en-US" sz="3700" b="1" spc="-74" kern="0" dirty="0">
                <a:solidFill>
                  <a:srgbClr val="00D4FF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 QUESTION 4 </a:t>
            </a:r>
            <a:pPr algn="ctr" indent="0" marL="0">
              <a:lnSpc>
                <a:spcPct val="108000"/>
              </a:lnSpc>
              <a:buNone/>
            </a:pPr>
            <a:r>
              <a:rPr lang="en-US" sz="3700" b="1" spc="-74" kern="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🏗️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536924"/>
            <a:ext cx="10868745" cy="27827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spcAft>
                <a:spcPts val="1650"/>
              </a:spcAft>
              <a:buNone/>
            </a:pPr>
            <a:r>
              <a:rPr lang="en-US" sz="1450" dirty="0">
                <a:solidFill>
                  <a:srgbClr val="00D4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In an analytics dashboard architecture, which layer is responsible for running operations like GROUP BY, JOIN, and CTEs to extract business metrics?</a:t>
            </a:r>
            <a:endParaRPr lang="en-US" sz="1450" dirty="0"/>
          </a:p>
          <a:p>
            <a:pPr algn="l" indent="0" marL="0">
              <a:lnSpc>
                <a:spcPct val="108000"/>
              </a:lnSpc>
              <a:spcAft>
                <a:spcPts val="1650"/>
              </a:spcAft>
              <a:buNone/>
            </a:pPr>
            <a:r>
              <a:rPr lang="en-US" sz="145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A) Visualization Layer</a:t>
            </a:r>
            <a:endParaRPr lang="en-US" sz="1450" dirty="0"/>
          </a:p>
          <a:p>
            <a:pPr algn="l" indent="0" marL="0">
              <a:lnSpc>
                <a:spcPct val="108000"/>
              </a:lnSpc>
              <a:spcAft>
                <a:spcPts val="1650"/>
              </a:spcAft>
              <a:buNone/>
            </a:pPr>
            <a:r>
              <a:rPr lang="en-US" sz="145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B) Storage Hardware Layer</a:t>
            </a:r>
            <a:endParaRPr lang="en-US" sz="1450" dirty="0"/>
          </a:p>
          <a:p>
            <a:pPr algn="l" indent="0" marL="0">
              <a:lnSpc>
                <a:spcPct val="108000"/>
              </a:lnSpc>
              <a:spcAft>
                <a:spcPts val="1650"/>
              </a:spcAft>
              <a:buNone/>
            </a:pPr>
            <a:r>
              <a:rPr lang="en-US" sz="145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C) Query Layer</a:t>
            </a:r>
            <a:endParaRPr lang="en-US" sz="1450" dirty="0"/>
          </a:p>
          <a:p>
            <a:pPr algn="l" indent="0" marL="0">
              <a:lnSpc>
                <a:spcPct val="108000"/>
              </a:lnSpc>
              <a:spcAft>
                <a:spcPts val="1650"/>
              </a:spcAft>
              <a:buNone/>
            </a:pPr>
            <a:r>
              <a:rPr lang="en-US" sz="145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D) Presentation Layer</a:t>
            </a:r>
            <a:endParaRPr lang="en-US" sz="14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00D4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Where does the magic happen? </a:t>
            </a:r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✨</a:t>
            </a:r>
            <a:endParaRPr lang="en-US" sz="14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2687141"/>
            <a:ext cx="10868745" cy="614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3700" b="1" spc="-74" kern="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Answer: </a:t>
            </a:r>
            <a:pPr algn="ctr" indent="0" marL="0">
              <a:lnSpc>
                <a:spcPct val="108000"/>
              </a:lnSpc>
              <a:buNone/>
            </a:pPr>
            <a:r>
              <a:rPr lang="en-US" sz="3700" b="1" spc="-74" kern="0" dirty="0">
                <a:solidFill>
                  <a:srgbClr val="00D4FF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C) Query Layer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3679428"/>
            <a:ext cx="10868745" cy="491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The Data Layer stores the tables and the Visualization Layer renders the charts; the intermediate Query Layer executes SQL transformations (GROUP BY, JOIN, CTEs) to turn raw records into usable metrics.</a:t>
            </a:r>
            <a:endParaRPr lang="en-US" sz="14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661120"/>
            <a:ext cx="10868745" cy="6206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3700" b="1" spc="-74" kern="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📊</a:t>
            </a:r>
            <a:pPr algn="ctr" indent="0" marL="0">
              <a:lnSpc>
                <a:spcPct val="108000"/>
              </a:lnSpc>
              <a:buNone/>
            </a:pPr>
            <a:r>
              <a:rPr lang="en-US" sz="3700" b="1" spc="-74" kern="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 QUESTION 5 </a:t>
            </a:r>
            <a:pPr algn="ctr" indent="0" marL="0">
              <a:lnSpc>
                <a:spcPct val="108000"/>
              </a:lnSpc>
              <a:buNone/>
            </a:pPr>
            <a:r>
              <a:rPr lang="en-US" sz="3700" b="1" spc="-74" kern="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📊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356682" y="2659757"/>
            <a:ext cx="11478330" cy="245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00D4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Which SQL statement correctly calculates the average product price for each product category?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661475" y="3118048"/>
            <a:ext cx="10868745" cy="1620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spcAft>
                <a:spcPts val="1650"/>
              </a:spcAft>
              <a:buNone/>
            </a:pPr>
            <a:r>
              <a:rPr lang="en-US" sz="145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A) SELECT category, AVG(price) FROM products GROUP BY category;</a:t>
            </a:r>
            <a:endParaRPr lang="en-US" sz="1450" dirty="0"/>
          </a:p>
          <a:p>
            <a:pPr algn="l" indent="0" marL="0">
              <a:lnSpc>
                <a:spcPct val="108000"/>
              </a:lnSpc>
              <a:spcAft>
                <a:spcPts val="1650"/>
              </a:spcAft>
              <a:buNone/>
            </a:pPr>
            <a:r>
              <a:rPr lang="en-US" sz="145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B) SELECT category, SUM(price) FROM products WHERE AVG(price);</a:t>
            </a:r>
            <a:endParaRPr lang="en-US" sz="1450" dirty="0"/>
          </a:p>
          <a:p>
            <a:pPr algn="l" indent="0" marL="0">
              <a:lnSpc>
                <a:spcPct val="108000"/>
              </a:lnSpc>
              <a:spcAft>
                <a:spcPts val="1650"/>
              </a:spcAft>
              <a:buNone/>
            </a:pPr>
            <a:r>
              <a:rPr lang="en-US" sz="145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C) SELECT category, COUNT(price) FROM products ORDER BY category;</a:t>
            </a:r>
            <a:endParaRPr lang="en-US" sz="14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D) SELECT price, AVG(category) FROM products GROUP BY price;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356682" y="4951214"/>
            <a:ext cx="11478330" cy="245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00D4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Spot the correct syntax! </a:t>
            </a:r>
            <a:pPr algn="ctr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🎯</a:t>
            </a:r>
            <a:endParaRPr lang="en-US" sz="14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2380059"/>
            <a:ext cx="10868745" cy="12285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3700" b="1" spc="-74" kern="0" dirty="0">
                <a:solidFill>
                  <a:srgbClr val="00D4FF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Answer: A) SELECT category, AVG(price) FROM products GROUP BY category;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3986609"/>
            <a:ext cx="10868745" cy="491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Calculating an average by category requires grouping the records using GROUP BY category and applying the aggregate function AVG(price) on the numerical price column.</a:t>
            </a:r>
            <a:endParaRPr lang="en-US" sz="14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661120"/>
            <a:ext cx="10868745" cy="6206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3700" b="1" spc="-74" kern="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⚡</a:t>
            </a:r>
            <a:pPr algn="ctr" indent="0" marL="0">
              <a:lnSpc>
                <a:spcPct val="108000"/>
              </a:lnSpc>
              <a:buNone/>
            </a:pPr>
            <a:r>
              <a:rPr lang="en-US" sz="3700" b="1" spc="-74" kern="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 </a:t>
            </a:r>
            <a:pPr algn="ctr" indent="0" marL="0">
              <a:lnSpc>
                <a:spcPct val="108000"/>
              </a:lnSpc>
              <a:buNone/>
            </a:pPr>
            <a:r>
              <a:rPr lang="en-US" sz="3700" b="1" spc="-74" kern="0" dirty="0">
                <a:solidFill>
                  <a:srgbClr val="00D4FF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QUESTION 6</a:t>
            </a:r>
            <a:pPr algn="ctr" indent="0" marL="0">
              <a:lnSpc>
                <a:spcPct val="108000"/>
              </a:lnSpc>
              <a:buNone/>
            </a:pPr>
            <a:r>
              <a:rPr lang="en-US" sz="3700" b="1" spc="-74" kern="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 </a:t>
            </a:r>
            <a:pPr algn="ctr" indent="0" marL="0">
              <a:lnSpc>
                <a:spcPct val="108000"/>
              </a:lnSpc>
              <a:buNone/>
            </a:pPr>
            <a:r>
              <a:rPr lang="en-US" sz="3700" b="1" spc="-74" kern="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⚡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356682" y="2659757"/>
            <a:ext cx="11478330" cy="245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00D4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What is the primary mechanism of Partition Pruning when running queries on partitioned tables?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661475" y="3118048"/>
            <a:ext cx="10868745" cy="1620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spcAft>
                <a:spcPts val="1650"/>
              </a:spcAft>
              <a:buNone/>
            </a:pPr>
            <a:r>
              <a:rPr lang="en-US" sz="145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A) It deletes unused partitions permanently to save disk space</a:t>
            </a:r>
            <a:endParaRPr lang="en-US" sz="1450" dirty="0"/>
          </a:p>
          <a:p>
            <a:pPr algn="l" indent="0" marL="0">
              <a:lnSpc>
                <a:spcPct val="108000"/>
              </a:lnSpc>
              <a:spcAft>
                <a:spcPts val="1650"/>
              </a:spcAft>
              <a:buNone/>
            </a:pPr>
            <a:r>
              <a:rPr lang="en-US" sz="145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B) It converts all non-clustered indexes into B-Tree structures</a:t>
            </a:r>
            <a:endParaRPr lang="en-US" sz="1450" dirty="0"/>
          </a:p>
          <a:p>
            <a:pPr algn="l" indent="0" marL="0">
              <a:lnSpc>
                <a:spcPct val="108000"/>
              </a:lnSpc>
              <a:spcAft>
                <a:spcPts val="1650"/>
              </a:spcAft>
              <a:buNone/>
            </a:pPr>
            <a:r>
              <a:rPr lang="en-US" sz="145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C) It automatically skips irrelevant partitions during query execution to boost speed</a:t>
            </a:r>
            <a:endParaRPr lang="en-US" sz="14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D) It merges multiple tables into a single partition at runtime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356682" y="4951214"/>
            <a:ext cx="11478330" cy="245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00D4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Which one speeds things up? </a:t>
            </a:r>
            <a:pPr algn="ctr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🚀</a:t>
            </a:r>
            <a:endParaRPr lang="en-US" sz="14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2380059"/>
            <a:ext cx="10868745" cy="12285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3700" b="1" spc="-74" kern="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Answer: </a:t>
            </a:r>
            <a:pPr algn="ctr" indent="0" marL="0">
              <a:lnSpc>
                <a:spcPct val="108000"/>
              </a:lnSpc>
              <a:buNone/>
            </a:pPr>
            <a:r>
              <a:rPr lang="en-US" sz="3700" b="1" spc="-74" kern="0" dirty="0">
                <a:solidFill>
                  <a:srgbClr val="00D4FF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C) Automatically Skips Irrelevant Partitions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3986609"/>
            <a:ext cx="10868745" cy="491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Partition pruning evaluates query filters (such as date ranges) and directs the query optimizer to scan only matching partitions while ignoring (pruning) the rest, drastically minimizing I/O overhead.</a:t>
            </a:r>
            <a:endParaRPr lang="en-US" sz="145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408311"/>
            <a:ext cx="10868745" cy="6206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3700" b="1" spc="-74" kern="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💾</a:t>
            </a:r>
            <a:pPr algn="ctr" indent="0" marL="0">
              <a:lnSpc>
                <a:spcPct val="108000"/>
              </a:lnSpc>
              <a:buNone/>
            </a:pPr>
            <a:r>
              <a:rPr lang="en-US" sz="3700" b="1" spc="-74" kern="0" dirty="0">
                <a:solidFill>
                  <a:srgbClr val="00D4FF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 QUESTION 7 </a:t>
            </a:r>
            <a:pPr algn="ctr" indent="0" marL="0">
              <a:lnSpc>
                <a:spcPct val="108000"/>
              </a:lnSpc>
              <a:buNone/>
            </a:pPr>
            <a:r>
              <a:rPr lang="en-US" sz="3700" b="1" spc="-74" kern="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💾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104529"/>
            <a:ext cx="10868745" cy="9828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950" b="1" spc="-60" kern="0" dirty="0">
                <a:solidFill>
                  <a:srgbClr val="00D4FF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Why are Materialized Views preferred over standard queries for heavy analytics on massive datasets?</a:t>
            </a:r>
            <a:endParaRPr lang="en-US" sz="2950" dirty="0"/>
          </a:p>
        </p:txBody>
      </p:sp>
      <p:sp>
        <p:nvSpPr>
          <p:cNvPr id="4" name="Text 2"/>
          <p:cNvSpPr/>
          <p:nvPr/>
        </p:nvSpPr>
        <p:spPr>
          <a:xfrm>
            <a:off x="661475" y="3370858"/>
            <a:ext cx="10868745" cy="1620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spcAft>
                <a:spcPts val="1650"/>
              </a:spcAft>
              <a:buNone/>
            </a:pPr>
            <a:r>
              <a:rPr lang="en-US" sz="145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A) They re-run every underlying query from scratch for every user request</a:t>
            </a:r>
            <a:endParaRPr lang="en-US" sz="1450" dirty="0"/>
          </a:p>
          <a:p>
            <a:pPr algn="l" indent="0" marL="0">
              <a:lnSpc>
                <a:spcPct val="108000"/>
              </a:lnSpc>
              <a:spcAft>
                <a:spcPts val="1650"/>
              </a:spcAft>
              <a:buNone/>
            </a:pPr>
            <a:r>
              <a:rPr lang="en-US" sz="145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B) They pre-compute expensive aggregations and store results for instant retrieval</a:t>
            </a:r>
            <a:endParaRPr lang="en-US" sz="1450" dirty="0"/>
          </a:p>
          <a:p>
            <a:pPr algn="l" indent="0" marL="0">
              <a:lnSpc>
                <a:spcPct val="108000"/>
              </a:lnSpc>
              <a:spcAft>
                <a:spcPts val="1650"/>
              </a:spcAft>
              <a:buNone/>
            </a:pPr>
            <a:r>
              <a:rPr lang="en-US" sz="145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C) They automatically split records across separate cloud regions</a:t>
            </a:r>
            <a:endParaRPr lang="en-US" sz="14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D) They remove the need for SQL data types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356682" y="5204023"/>
            <a:ext cx="11478330" cy="245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00D4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Which one is the speed champion? </a:t>
            </a:r>
            <a:pPr algn="ctr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🏆</a:t>
            </a:r>
            <a:endParaRPr lang="en-US" sz="14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2380059"/>
            <a:ext cx="10868745" cy="12285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3700" b="1" spc="-74" kern="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Answer: </a:t>
            </a:r>
            <a:pPr algn="ctr" indent="0" marL="0">
              <a:lnSpc>
                <a:spcPct val="108000"/>
              </a:lnSpc>
              <a:buNone/>
            </a:pPr>
            <a:r>
              <a:rPr lang="en-US" sz="3700" b="1" spc="-74" kern="0" dirty="0">
                <a:solidFill>
                  <a:srgbClr val="00D4FF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B) Pre-compute &amp; Store Results for Instant Retrieval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3986609"/>
            <a:ext cx="10868745" cy="491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Unlike standard views that re-execute complex joins and aggregations on every request, materialized views persist the query results on disk, delivering instant response times on datasets with hundreds of millions of rows.</a:t>
            </a:r>
            <a:endParaRPr lang="en-US" sz="145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2218630"/>
            <a:ext cx="10868745" cy="6206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3700" b="1" spc="-74" kern="0" dirty="0">
                <a:solidFill>
                  <a:srgbClr val="00D4FF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Thank You! </a:t>
            </a:r>
            <a:pPr algn="ctr" indent="0" marL="0">
              <a:lnSpc>
                <a:spcPct val="108000"/>
              </a:lnSpc>
              <a:buNone/>
            </a:pPr>
            <a:r>
              <a:rPr lang="en-US" sz="3700" b="1" spc="-74" kern="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🙏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914848"/>
            <a:ext cx="10868745" cy="491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2950" b="1" spc="-60" kern="0" dirty="0">
                <a:solidFill>
                  <a:srgbClr val="FFFFFF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Questions &amp; Discussion</a:t>
            </a:r>
            <a:endParaRPr lang="en-US" sz="2950" dirty="0"/>
          </a:p>
        </p:txBody>
      </p:sp>
      <p:sp>
        <p:nvSpPr>
          <p:cNvPr id="4" name="Text 2"/>
          <p:cNvSpPr/>
          <p:nvPr/>
        </p:nvSpPr>
        <p:spPr>
          <a:xfrm>
            <a:off x="661475" y="3689747"/>
            <a:ext cx="10868745" cy="9496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8000"/>
              </a:lnSpc>
              <a:spcAft>
                <a:spcPts val="1650"/>
              </a:spcAft>
              <a:buNone/>
            </a:pPr>
            <a:r>
              <a:rPr lang="en-US" sz="145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We've assembled the data. We've decoded the business. Now let's discuss what you've learned.</a:t>
            </a:r>
            <a:endParaRPr lang="en-US" sz="1450" dirty="0"/>
          </a:p>
          <a:p>
            <a:pPr algn="ctr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⚡</a:t>
            </a:r>
            <a:pPr algn="ctr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00D4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DATAVENGERS </a:t>
            </a:r>
            <a:pPr algn="ctr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⚡</a:t>
            </a:r>
            <a:endParaRPr lang="en-US" sz="1450" dirty="0"/>
          </a:p>
          <a:p>
            <a:pPr algn="ctr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00D4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ASSEMBLE THE DATA. DECODE THE BUSINESS.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40</Slides>
  <Notes>40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2026-09-04T03:41:22Z</dcterms:created>
  <dcterms:modified xsi:type="dcterms:W3CDTF">2026-09-04T03:41:22Z</dcterms:modified>
</cp:coreProperties>
</file>