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embeddedFontLst>
    <p:embeddedFont>
      <p:font typeface="Funnel Display"/>
      <p:regular r:id="rId201314"/>
    </p:embeddedFont>
    <p:embeddedFont>
      <p:font typeface="Funnel Display Bold"/>
      <p:regular r:id="rId201315"/>
    </p:embeddedFont>
    <p:embeddedFont>
      <p:font typeface="Funnel Sans Bold"/>
      <p:regular r:id="rId201316"/>
    </p:embeddedFont>
    <p:embeddedFont>
      <p:font typeface="Funnel Sans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7.png"/><Relationship Id="rId10" Type="http://schemas.openxmlformats.org/officeDocument/2006/relationships/image" Target="../media/image-6-8.svg"/><Relationship Id="rId11" Type="http://schemas.openxmlformats.org/officeDocument/2006/relationships/image" Target="../media/image-6-7.png"/><Relationship Id="rId12" Type="http://schemas.openxmlformats.org/officeDocument/2006/relationships/image" Target="../media/image-6-8.svg"/><Relationship Id="rId13" Type="http://schemas.openxmlformats.org/officeDocument/2006/relationships/image" Target="../media/image-4-1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4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2444353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00" spc="-2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Python File Modes &amp; Context Managers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94977" y="3091086"/>
            <a:ext cx="8554045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Concise Guide to Safe File Handling &amp; Resource Teardown in Python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3577" y="3447752"/>
            <a:ext cx="8096845" cy="965895"/>
          </a:xfrm>
          <a:prstGeom prst="roundRect">
            <a:avLst>
              <a:gd name="adj" fmla="val 5692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8340" y="3452515"/>
            <a:ext cx="2695724" cy="956370"/>
          </a:xfrm>
          <a:custGeom>
            <a:avLst/>
            <a:gdLst/>
            <a:ahLst/>
            <a:cxnLst/>
            <a:rect l="l" t="t" r="r" b="b"/>
            <a:pathLst>
              <a:path w="2695724" h="956370">
                <a:moveTo>
                  <a:pt x="45819" y="0"/>
                </a:moveTo>
                <a:lnTo>
                  <a:pt x="2695724" y="0"/>
                </a:lnTo>
                <a:lnTo>
                  <a:pt x="2695724" y="956370"/>
                </a:lnTo>
                <a:lnTo>
                  <a:pt x="45819" y="956370"/>
                </a:lnTo>
                <a:arcTo hR="45819" wR="45819" stAng="5400000" swAng="5400000"/>
                <a:lnTo>
                  <a:pt x="0" y="45819"/>
                </a:lnTo>
                <a:arcTo hR="45819" wR="45819" stAng="10800000" swAng="5400000"/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6" name="Text 4"/>
          <p:cNvSpPr/>
          <p:nvPr/>
        </p:nvSpPr>
        <p:spPr>
          <a:xfrm>
            <a:off x="659234" y="3583409"/>
            <a:ext cx="243393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File Modes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9234" y="3854425"/>
            <a:ext cx="243393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Declare intent at the OS level — read, write, append, or exclusively create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24064" y="3452515"/>
            <a:ext cx="2695798" cy="95637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9" name="Shape 7"/>
          <p:cNvSpPr/>
          <p:nvPr/>
        </p:nvSpPr>
        <p:spPr>
          <a:xfrm>
            <a:off x="3224064" y="3452515"/>
            <a:ext cx="14288" cy="956370"/>
          </a:xfrm>
          <a:prstGeom prst="roundRect">
            <a:avLst>
              <a:gd name="adj" fmla="val 49998"/>
            </a:avLst>
          </a:prstGeom>
          <a:solidFill>
            <a:srgbClr val="D5CDBE"/>
          </a:solidFill>
          <a:ln/>
        </p:spPr>
      </p:sp>
      <p:sp>
        <p:nvSpPr>
          <p:cNvPr id="10" name="Text 8"/>
          <p:cNvSpPr/>
          <p:nvPr/>
        </p:nvSpPr>
        <p:spPr>
          <a:xfrm>
            <a:off x="3354958" y="3583409"/>
            <a:ext cx="243401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Context Managers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4958" y="3854425"/>
            <a:ext cx="2434010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Guarantee automatic resource teardown through 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__enter__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/ 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__exit__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protocol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19862" y="3452515"/>
            <a:ext cx="2695798" cy="956370"/>
          </a:xfrm>
          <a:custGeom>
            <a:avLst/>
            <a:gdLst/>
            <a:ahLst/>
            <a:cxnLst/>
            <a:rect l="l" t="t" r="r" b="b"/>
            <a:pathLst>
              <a:path w="2695798" h="956370">
                <a:moveTo>
                  <a:pt x="0" y="0"/>
                </a:moveTo>
                <a:lnTo>
                  <a:pt x="2649979" y="0"/>
                </a:lnTo>
                <a:arcTo hR="45819" wR="45819" stAng="16200000" swAng="5400000"/>
                <a:lnTo>
                  <a:pt x="2695798" y="910551"/>
                </a:lnTo>
                <a:arcTo hR="45819" wR="45819" stAng="0" swAng="5400000"/>
                <a:lnTo>
                  <a:pt x="0" y="956370"/>
                </a:lnTo>
                <a:lnTo>
                  <a:pt x="0" y="0"/>
                </a:lnTo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19862" y="3452515"/>
            <a:ext cx="14288" cy="956370"/>
          </a:xfrm>
          <a:prstGeom prst="roundRect">
            <a:avLst>
              <a:gd name="adj" fmla="val 49998"/>
            </a:avLst>
          </a:prstGeom>
          <a:solidFill>
            <a:srgbClr val="D5CDBE"/>
          </a:solidFill>
          <a:ln/>
        </p:spPr>
      </p:sp>
      <p:sp>
        <p:nvSpPr>
          <p:cNvPr id="14" name="Text 12"/>
          <p:cNvSpPr/>
          <p:nvPr/>
        </p:nvSpPr>
        <p:spPr>
          <a:xfrm>
            <a:off x="6050756" y="3583409"/>
            <a:ext cx="243401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Safe File Handling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50756" y="3854425"/>
            <a:ext cx="2434010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Eliminate resource leaks and silent failures in production Python code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636315"/>
            <a:ext cx="837977" cy="198834"/>
          </a:xfrm>
          <a:prstGeom prst="roundRect">
            <a:avLst>
              <a:gd name="adj" fmla="val 22122"/>
            </a:avLst>
          </a:prstGeom>
          <a:solidFill>
            <a:srgbClr val="D8E7F3"/>
          </a:solidFill>
          <a:ln/>
        </p:spPr>
      </p:sp>
      <p:sp>
        <p:nvSpPr>
          <p:cNvPr id="3" name="Text 1"/>
          <p:cNvSpPr/>
          <p:nvPr/>
        </p:nvSpPr>
        <p:spPr>
          <a:xfrm>
            <a:off x="602084" y="675531"/>
            <a:ext cx="1138163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FOUNDATIONS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887462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2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What is a File Mode?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3577" y="1468710"/>
            <a:ext cx="8096845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When you open a file in Python, you are not simply requesting access — you are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spc="-2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declaring your intent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 the operating system. The mode string signals which operations are permitted, shapes how the OS grants access, and determines what happens to existing data before your code runs a single line.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9295" y="2244179"/>
            <a:ext cx="4077295" cy="3977432"/>
          </a:xfrm>
          <a:prstGeom prst="roundRect">
            <a:avLst>
              <a:gd name="adj" fmla="val 2370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60189" y="2375074"/>
            <a:ext cx="381550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Three Primary Operations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5614" y="2759794"/>
            <a:ext cx="339008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000000"/>
                </a:solidFill>
                <a:highlight>
                  <a:srgbClr val="2BB0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'r'</a:t>
            </a:r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— Read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5614" y="3087960"/>
            <a:ext cx="339008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Access file contents without any modification. The file must already exist.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5614" y="3813497"/>
            <a:ext cx="339008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000000"/>
                </a:solidFill>
                <a:highlight>
                  <a:srgbClr val="2BB0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— Write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5614" y="4141663"/>
            <a:ext cx="339008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Create a new file or completely overwrite an existing one with fresh data.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5614" y="4867201"/>
            <a:ext cx="339008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000000"/>
                </a:solidFill>
                <a:highlight>
                  <a:srgbClr val="2BB0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— Append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5614" y="5195367"/>
            <a:ext cx="339008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Add data to the end of an existing file, preserving everything already there.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36455" y="2375074"/>
            <a:ext cx="388873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Notebook Analogy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455" y="2714848"/>
            <a:ext cx="3888730" cy="103257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38787" y="2860030"/>
            <a:ext cx="3541216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Reading Pages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38787" y="3183434"/>
            <a:ext cx="3541216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Open the notebook, scan every page, then close it — no ink touches paper, nothing changes.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6455" y="3878312"/>
            <a:ext cx="3888730" cy="103257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938787" y="4023494"/>
            <a:ext cx="3541216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Replacing the Notebook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938787" y="4346897"/>
            <a:ext cx="3541216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Discard the old notebook entirely and begin writing in a brand-new blank one from page one.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6455" y="5041776"/>
            <a:ext cx="3888730" cy="103257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38787" y="5186958"/>
            <a:ext cx="3541216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Appending Notes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938787" y="5510361"/>
            <a:ext cx="3541216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Flip to the last written page, then continue adding new entries below what already exists.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2908102"/>
            <a:ext cx="1000199" cy="198834"/>
          </a:xfrm>
          <a:prstGeom prst="roundRect">
            <a:avLst>
              <a:gd name="adj" fmla="val 22122"/>
            </a:avLst>
          </a:prstGeom>
          <a:solidFill>
            <a:srgbClr val="D8E7F3"/>
          </a:solidFill>
          <a:ln/>
        </p:spPr>
      </p:sp>
      <p:sp>
        <p:nvSpPr>
          <p:cNvPr id="3" name="Text 1"/>
          <p:cNvSpPr/>
          <p:nvPr/>
        </p:nvSpPr>
        <p:spPr>
          <a:xfrm>
            <a:off x="602084" y="2947318"/>
            <a:ext cx="1300386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CORE REFERENCE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3159249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2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Primary File Modes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3577" y="3740497"/>
            <a:ext cx="8554045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 exposes four atomic file modes. Each has a precise contract governing existence requirements, data preservation, and error behavior.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938212"/>
            <a:ext cx="1089050" cy="198834"/>
          </a:xfrm>
          <a:prstGeom prst="roundRect">
            <a:avLst>
              <a:gd name="adj" fmla="val 22122"/>
            </a:avLst>
          </a:prstGeom>
          <a:solidFill>
            <a:srgbClr val="D8E7F3"/>
          </a:solidFill>
          <a:ln/>
        </p:spPr>
      </p:sp>
      <p:sp>
        <p:nvSpPr>
          <p:cNvPr id="3" name="Text 1"/>
          <p:cNvSpPr/>
          <p:nvPr/>
        </p:nvSpPr>
        <p:spPr>
          <a:xfrm>
            <a:off x="602084" y="977429"/>
            <a:ext cx="1389236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REFERENCE MATRIX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1189360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2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Combination Modes Matrix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3577" y="1770608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Extended modes combine read and write capabilities. Choosing the wrong mode is the most common source of silent data loss in file-handling code — this matrix makes the trade-offs explicit.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3577" y="2336676"/>
          <a:ext cx="6858000" cy="914400"/>
        </p:xfrm>
        <a:graphic>
          <a:graphicData uri="http://schemas.openxmlformats.org/drawingml/2006/table">
            <a:tbl>
              <a:tblPr/>
              <a:tblGrid>
                <a:gridCol w="1619369"/>
                <a:gridCol w="1619369"/>
                <a:gridCol w="1619369"/>
                <a:gridCol w="1619369"/>
                <a:gridCol w="1619369"/>
              </a:tblGrid>
              <a:tr h="3783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-21" kern="0" dirty="0">
                          <a:solidFill>
                            <a:srgbClr val="272525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Mode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-21" kern="0" dirty="0">
                          <a:solidFill>
                            <a:srgbClr val="272525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Read Capable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-21" kern="0" dirty="0">
                          <a:solidFill>
                            <a:srgbClr val="272525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Write Capable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-21" kern="0" dirty="0">
                          <a:solidFill>
                            <a:srgbClr val="272525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Data Preserved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-21" kern="0" dirty="0">
                          <a:solidFill>
                            <a:srgbClr val="272525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Pointer Location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</a:tr>
              <a:tr h="385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'r'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✓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✗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N/A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Start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</a:tr>
              <a:tr h="385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'w'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✗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✓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✗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Start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</a:tr>
              <a:tr h="385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'a'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✗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✓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✓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End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</a:tr>
              <a:tr h="385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'r+'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✓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✓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✓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Start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</a:tr>
              <a:tr h="385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'w+'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✓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✓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✗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Start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</a:tr>
              <a:tr h="3830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'a+'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✓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✓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✓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-21" kern="0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End</a:t>
                      </a:r>
                      <a:endParaRPr lang="en-US" sz="10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30912" marR="130912" marT="4763" marB="4763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23577" y="5182195"/>
            <a:ext cx="8096845" cy="737592"/>
          </a:xfrm>
          <a:prstGeom prst="roundRect">
            <a:avLst>
              <a:gd name="adj" fmla="val 7454"/>
            </a:avLst>
          </a:prstGeom>
          <a:solidFill>
            <a:srgbClr val="D8E7F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472" y="5369272"/>
            <a:ext cx="163637" cy="1308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9003" y="5345757"/>
            <a:ext cx="7540526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 distinction: 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'r+'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preserves data and requires the file to exist; 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'w+'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silently truncates — a critical difference when retrofitting read access onto write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1277243"/>
            <a:ext cx="950640" cy="198834"/>
          </a:xfrm>
          <a:prstGeom prst="roundRect">
            <a:avLst>
              <a:gd name="adj" fmla="val 22122"/>
            </a:avLst>
          </a:prstGeom>
          <a:solidFill>
            <a:srgbClr val="D8E7F3"/>
          </a:solidFill>
          <a:ln/>
        </p:spPr>
      </p:sp>
      <p:sp>
        <p:nvSpPr>
          <p:cNvPr id="3" name="Text 1"/>
          <p:cNvSpPr/>
          <p:nvPr/>
        </p:nvSpPr>
        <p:spPr>
          <a:xfrm>
            <a:off x="602084" y="1316459"/>
            <a:ext cx="1250826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1528390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2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Why File Modes Matter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3577" y="2109639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File modes are not syntactic convention — they are a first line of defense against data corruption, logic errors, and ambiguous code intent. Understanding their enforcement mechanism transforms modes from boilerplate into a safety system.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23577" y="2675706"/>
            <a:ext cx="3982938" cy="1389459"/>
          </a:xfrm>
          <a:prstGeom prst="roundRect">
            <a:avLst>
              <a:gd name="adj" fmla="val 3957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9234" y="2811363"/>
            <a:ext cx="371162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OS-Level Protection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9234" y="3082379"/>
            <a:ext cx="3711625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File modes enforce read/write permissions at the operating system level. The kernel itself mediates access — Python's mode string translates directly into OS file access flags, preventing accidental data corruption before your logic even runs.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37410" y="2675706"/>
            <a:ext cx="3983013" cy="1389459"/>
          </a:xfrm>
          <a:prstGeom prst="roundRect">
            <a:avLst>
              <a:gd name="adj" fmla="val 3957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067" y="2811363"/>
            <a:ext cx="371169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UnsupportedOperation Error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73067" y="3082379"/>
            <a:ext cx="3711699" cy="847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Attempting to write to a file opened in 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'r'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mode raises 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io.UnsupportedOperationError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immediately. This catches logic errors at the point of the mistake — not silently downstream where data corruption would be harder to trace.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3577" y="4196060"/>
            <a:ext cx="3982938" cy="1384697"/>
          </a:xfrm>
          <a:prstGeom prst="roundRect">
            <a:avLst>
              <a:gd name="adj" fmla="val 3971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9234" y="4331717"/>
            <a:ext cx="371162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Intent Declaration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9234" y="4602733"/>
            <a:ext cx="3711625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Explicit mode selection documents precisely what your code intends to do with a file. Reviewers and future maintainers can understand data-flow expectations without reading the full implementation. Modes make intent machine-verifiable.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37410" y="4196060"/>
            <a:ext cx="3983013" cy="1384697"/>
          </a:xfrm>
          <a:prstGeom prst="roundRect">
            <a:avLst>
              <a:gd name="adj" fmla="val 3971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067" y="4331717"/>
            <a:ext cx="371169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Data Safety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73067" y="4602733"/>
            <a:ext cx="3711699" cy="842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Write mode (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 truncates intentionally; append mode (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 preserves existing data unconditionally. This removes all ambiguity — no silent overwrites, no partial corruption, no need for defensive pre-checks before every file operation.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605061"/>
            <a:ext cx="900559" cy="198834"/>
          </a:xfrm>
          <a:prstGeom prst="roundRect">
            <a:avLst>
              <a:gd name="adj" fmla="val 22122"/>
            </a:avLst>
          </a:prstGeom>
          <a:solidFill>
            <a:srgbClr val="D8E7F3"/>
          </a:solidFill>
          <a:ln/>
        </p:spPr>
      </p:sp>
      <p:sp>
        <p:nvSpPr>
          <p:cNvPr id="3" name="Text 1"/>
          <p:cNvSpPr/>
          <p:nvPr/>
        </p:nvSpPr>
        <p:spPr>
          <a:xfrm>
            <a:off x="602084" y="644277"/>
            <a:ext cx="1200745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CORE CONCEPT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856208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2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Context Managers &amp; the Meeting Room Analogy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3577" y="1437456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fundamental problem with manual file handling is relying on the developer to remember cleanup in every execution path — including error paths. Context managers solve this structurally, not procedurally.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3577" y="2134419"/>
            <a:ext cx="388873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Manual Locking — Without Context Manager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2691" y="2478286"/>
            <a:ext cx="196304" cy="196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9003" y="2474193"/>
            <a:ext cx="346330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You Lock the Door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003" y="2797597"/>
            <a:ext cx="3463305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open('data.txt', 'r')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you manually acquire the resource and begin operations.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691" y="3487043"/>
            <a:ext cx="196304" cy="19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9003" y="3482950"/>
            <a:ext cx="346330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You Must Remember to Unlock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49003" y="3806354"/>
            <a:ext cx="3463305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must be called explicitly — on every exit path, including after exceptions.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691" y="4495800"/>
            <a:ext cx="196304" cy="1963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49003" y="4491707"/>
            <a:ext cx="346330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Door Stays Locked on Failure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49003" y="4815111"/>
            <a:ext cx="346330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If an exception occurs between open and close, the file handle is never released. Resource leak in production.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642172" y="2003524"/>
            <a:ext cx="4077295" cy="4249415"/>
          </a:xfrm>
          <a:prstGeom prst="roundRect">
            <a:avLst>
              <a:gd name="adj" fmla="val 2312"/>
            </a:avLst>
          </a:prstGeom>
          <a:solidFill>
            <a:srgbClr val="38BDF8"/>
          </a:solidFill>
          <a:ln/>
        </p:spPr>
      </p:sp>
      <p:sp>
        <p:nvSpPr>
          <p:cNvPr id="17" name="Text 12"/>
          <p:cNvSpPr/>
          <p:nvPr/>
        </p:nvSpPr>
        <p:spPr>
          <a:xfrm>
            <a:off x="4773067" y="2134419"/>
            <a:ext cx="381550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Smart Locking — With Context Manager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2180" y="2478286"/>
            <a:ext cx="196304" cy="1963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98492" y="2474193"/>
            <a:ext cx="3390081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Door Locks Automatically on Enter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198492" y="2797597"/>
            <a:ext cx="3390081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highlight>
                  <a:srgbClr val="2BB0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open('data.txt', 'r') as f: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highlight>
                  <a:srgbClr val="2BB0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__enter__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is called; file handle is guaranteed open.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22180" y="3487043"/>
            <a:ext cx="196304" cy="1963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98492" y="3482950"/>
            <a:ext cx="3390081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Door Unlocks Automatically on Exit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198492" y="3806354"/>
            <a:ext cx="3390081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highlight>
                  <a:srgbClr val="2BB0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__exit__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is called when the block ends — whether normally or due to an exception.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22180" y="4495800"/>
            <a:ext cx="196304" cy="1963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98492" y="4491707"/>
            <a:ext cx="3390081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Cleanup Is Unconditional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5198492" y="4815111"/>
            <a:ext cx="339008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Even if something goes wrong inside the block, the file closes safely. No try/finally. No leaks.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773067" y="5381179"/>
            <a:ext cx="3815507" cy="724495"/>
          </a:xfrm>
          <a:prstGeom prst="roundRect">
            <a:avLst>
              <a:gd name="adj" fmla="val 7589"/>
            </a:avLst>
          </a:prstGeom>
          <a:solidFill>
            <a:srgbClr val="D8E7F3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03961" y="5577780"/>
            <a:ext cx="163637" cy="13089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198492" y="5531644"/>
            <a:ext cx="3259187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highlight>
                  <a:srgbClr val="2BB0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open()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is the smart lock: guaranteed resource cleanup, always.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607740"/>
            <a:ext cx="1149623" cy="198834"/>
          </a:xfrm>
          <a:prstGeom prst="roundRect">
            <a:avLst>
              <a:gd name="adj" fmla="val 22122"/>
            </a:avLst>
          </a:prstGeom>
          <a:solidFill>
            <a:srgbClr val="D8E7F3"/>
          </a:solidFill>
          <a:ln/>
        </p:spPr>
      </p:sp>
      <p:sp>
        <p:nvSpPr>
          <p:cNvPr id="3" name="Text 1"/>
          <p:cNvSpPr/>
          <p:nvPr/>
        </p:nvSpPr>
        <p:spPr>
          <a:xfrm>
            <a:off x="602084" y="646956"/>
            <a:ext cx="1449809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LIFECYCLE DEEP-DIVE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858887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2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Context Manager Lifecycle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3577" y="1440135"/>
            <a:ext cx="8096845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statement executes in four guaranteed steps — this sequence holds even when exceptions are raised, making it structurally superior to manual try/finally patterns.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2010966"/>
            <a:ext cx="4048423" cy="5235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4472" y="2665437"/>
            <a:ext cx="3786634" cy="38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1. Enter</a:t>
            </a:r>
            <a:endParaRPr lang="en-US" sz="1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__enter__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4472" y="3133725"/>
            <a:ext cx="3786634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File opens. The file object is returned and bound to the 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variable. OS resources are allocated.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10966"/>
            <a:ext cx="4048423" cy="5235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2894" y="2665437"/>
            <a:ext cx="378663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2. Execute Block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02894" y="2936453"/>
            <a:ext cx="3786634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Your code runs inside the 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block — reads, writes, or appends as declared by the file mode.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3688184"/>
            <a:ext cx="4048423" cy="52357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4472" y="4342656"/>
            <a:ext cx="378663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3. Exception Capture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54472" y="4613672"/>
            <a:ext cx="3786634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If an error occurs, the exception type, value, and traceback are captured and passed directly to 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__exit__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688184"/>
            <a:ext cx="4048423" cy="52357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02894" y="4342656"/>
            <a:ext cx="3786634" cy="38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4. Auto Exit</a:t>
            </a:r>
            <a:endParaRPr lang="en-US" sz="1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__exit__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702894" y="4810944"/>
            <a:ext cx="3786634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File closes unconditionally. OS resources are released. Exception is re-raised if not suppressed by 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__exit__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23577" y="5512668"/>
            <a:ext cx="8096845" cy="737592"/>
          </a:xfrm>
          <a:prstGeom prst="roundRect">
            <a:avLst>
              <a:gd name="adj" fmla="val 7454"/>
            </a:avLst>
          </a:prstGeom>
          <a:solidFill>
            <a:srgbClr val="D8E7F3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472" y="5699745"/>
            <a:ext cx="163637" cy="13089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49003" y="5676230"/>
            <a:ext cx="7540526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sequence is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spc="-21" kern="0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guaranteed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even if exceptions occur inside the block — no 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try/finally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needed. The protocol is enforced by the Python runtime, not by developer discipline.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1746572"/>
            <a:ext cx="1009799" cy="198834"/>
          </a:xfrm>
          <a:prstGeom prst="roundRect">
            <a:avLst>
              <a:gd name="adj" fmla="val 22122"/>
            </a:avLst>
          </a:prstGeom>
          <a:solidFill>
            <a:srgbClr val="D8E7F3"/>
          </a:solidFill>
          <a:ln/>
        </p:spPr>
      </p:sp>
      <p:sp>
        <p:nvSpPr>
          <p:cNvPr id="3" name="Text 1"/>
          <p:cNvSpPr/>
          <p:nvPr/>
        </p:nvSpPr>
        <p:spPr>
          <a:xfrm>
            <a:off x="602084" y="1785789"/>
            <a:ext cx="1309985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INTERVIEW READY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1997720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2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Interview-Ready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3577" y="2434977"/>
            <a:ext cx="809684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9882" y="2971056"/>
            <a:ext cx="7900541" cy="784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000" b="1" spc="-2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Why use 'with open()' instead of plain 'open()' ?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Using 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open(...)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creates a context manager that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spc="-2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guarantees the file is automatically closed and system resources are released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even if an unhandled exception or early 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occurs inside the block.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9882" y="3903315"/>
            <a:ext cx="7900541" cy="116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b="1" spc="-2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Guaranteed Cleanup: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If a program crashes between manual 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the file descriptor stays open in memory, causing file locks and resource leaks. 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ensures 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is always called.</a:t>
            </a:r>
            <a:endParaRPr lang="en-US" sz="1000" dirty="0"/>
          </a:p>
          <a:p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b="1" spc="-2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Under-the-Hood Protocol: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Python handles this via the context management protocol by executing 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__enter__()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at the start and 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__exit__()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upon leaving the block, acting as an automatic, fail-safe 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try...finally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wrapper.</a:t>
            </a:r>
            <a:endParaRPr lang="en-US" sz="1000" dirty="0"/>
          </a:p>
          <a:p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b="1" spc="-2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Cleaner Code: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It eliminates the need for manual 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try...finally</a:t>
            </a:r>
            <a:pPr algn="l" marL="203200" indent="-203200">
              <a:lnSpc>
                <a:spcPct val="133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boilerplate, making your code concise, readable, and Pythonic.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3577" y="2823790"/>
            <a:ext cx="14288" cy="2287637"/>
          </a:xfrm>
          <a:prstGeom prst="roundRect">
            <a:avLst>
              <a:gd name="adj" fmla="val 49998"/>
            </a:avLst>
          </a:prstGeom>
          <a:solidFill>
            <a:srgbClr val="3371A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2026-09-02T05:20:09Z</dcterms:created>
  <dcterms:modified xsi:type="dcterms:W3CDTF">2026-09-02T05:20:09Z</dcterms:modified>
</cp:coreProperties>
</file>